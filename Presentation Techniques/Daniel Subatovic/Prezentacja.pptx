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7" r:id="rId11"/>
  </p:sldIdLst>
  <p:sldSz cx="12192000" cy="6858000"/>
  <p:notesSz cx="6858000" cy="9144000"/>
  <p:defaultTextStyle>
    <a:defPPr>
      <a:defRPr lang="lt-L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1921"/>
    <a:srgbClr val="98012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764" autoAdjust="0"/>
  </p:normalViewPr>
  <p:slideViewPr>
    <p:cSldViewPr snapToGrid="0">
      <p:cViewPr varScale="1">
        <p:scale>
          <a:sx n="84" d="100"/>
          <a:sy n="84" d="100"/>
        </p:scale>
        <p:origin x="4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019505-4D5F-4D96-A36F-234B5E14FD26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96B1F0-B27B-4703-8909-25CE3CD2F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06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96B1F0-B27B-4703-8909-25CE3CD2F63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23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66800-F8F0-7FE2-077B-31095ABFA3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t-L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76927B-90A0-0F4F-3678-FE45256E90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t-L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5AB6BB-ECE7-5AB7-3815-38343C226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C9535-F56B-4018-917D-105C4DEC2348}" type="datetime1">
              <a:rPr lang="lt-LT" smtClean="0"/>
              <a:t>2026-05-29</a:t>
            </a:fld>
            <a:endParaRPr lang="lt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71164B-01EE-490E-A645-5A86D8C49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9F263D-CA04-66C3-D5AB-B32D11ED7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46CF2-B7B4-41BF-BF00-F9B5AB208BC6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212245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5E0E9-DB41-E5BB-D307-4DFD509C8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t-L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543D6-914C-B84E-A295-9519EFEA9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t-L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E713A-1BD8-9146-B002-1B1136D78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AD571-E4C0-4597-949F-7985FAD78B48}" type="datetime1">
              <a:rPr lang="lt-LT" smtClean="0"/>
              <a:t>2026-05-29</a:t>
            </a:fld>
            <a:endParaRPr lang="lt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15D1BC-A986-17FF-9953-F5972CF25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2A6B88-34E0-CDF3-1A24-49A51C803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46CF2-B7B4-41BF-BF00-F9B5AB208BC6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4103148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37F6D-FC16-7646-017C-F2F38EF0E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t-L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DAF330-4B89-620C-8436-6E986B7493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FDC7A0-BC0A-4344-2799-C6B26DAAD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01C9C-9008-4154-B9ED-E98BE3D80A01}" type="datetime1">
              <a:rPr lang="lt-LT" smtClean="0"/>
              <a:t>2026-05-29</a:t>
            </a:fld>
            <a:endParaRPr lang="lt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21F23C-3169-F348-76A8-DCFA77954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251DBD-F8FE-BE09-C8A0-621CE9ADB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46CF2-B7B4-41BF-BF00-F9B5AB208BC6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857989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3EDF4-B9DA-BF37-5488-1AFE46094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t-L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C8F69-9EB4-7048-20DD-F6969F27E8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t-L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1FB07F-3C69-050B-DFD6-7B99AA746C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t-L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9E03C6-E868-1CB0-B0C1-A67E59C11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CFE45-9968-4FCD-AD2F-367C5EB73314}" type="datetime1">
              <a:rPr lang="lt-LT" smtClean="0"/>
              <a:t>2026-05-29</a:t>
            </a:fld>
            <a:endParaRPr lang="lt-L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59A58C-51DB-E1F7-A75C-11F6DD879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CD4E98-41C1-D983-F0F7-C888F556C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46CF2-B7B4-41BF-BF00-F9B5AB208BC6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127107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98C15-7C27-F6C4-E1A1-896636B9D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t-L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745FF2-AA03-F467-53C7-261DDA513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2BC82C-CD1C-AF13-FF9F-DDDE06B6E1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t-L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BF2938-A04D-7663-95A4-A1983613A9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2D3C7D-A44F-9681-4451-2D1394D3B5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t-L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C14FEE-CD09-AE39-68B6-E2C93560F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BEDF2-4089-4641-98BD-00D92CB49FB3}" type="datetime1">
              <a:rPr lang="lt-LT" smtClean="0"/>
              <a:t>2026-05-29</a:t>
            </a:fld>
            <a:endParaRPr lang="lt-L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7FD508-CE63-3224-FB79-DF229F5BA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363A58-4B29-AE31-A309-A67E2B5C7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46CF2-B7B4-41BF-BF00-F9B5AB208BC6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320187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C0974-9526-FFC8-AB4D-CDA345AD7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t-L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D8A20C-77CA-A5AB-00B5-5EC606B4E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BA166-F95F-4C8A-99E4-B54E9CF5365D}" type="datetime1">
              <a:rPr lang="lt-LT" smtClean="0"/>
              <a:t>2026-05-29</a:t>
            </a:fld>
            <a:endParaRPr lang="lt-L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FE364F-2337-7B7F-5ED5-86B00E7B3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19C219-4519-4AAD-B5B4-1B90FF3B6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46CF2-B7B4-41BF-BF00-F9B5AB208BC6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3032002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063626-7462-799D-BDE1-E8DB1DAF3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4E207-3822-4180-BF7E-C6C029D873DF}" type="datetime1">
              <a:rPr lang="lt-LT" smtClean="0"/>
              <a:t>2026-05-29</a:t>
            </a:fld>
            <a:endParaRPr lang="lt-L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E8D297-EBB0-A1A4-8E8E-DDB50CCAD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AC649-5A41-4006-DE50-DD2D4BBF3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46CF2-B7B4-41BF-BF00-F9B5AB208BC6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3601141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77926-B9FE-4850-6B03-B851D0AE2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t-L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A1C13-8435-A7C4-B4F2-D8A96A8379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t-L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C55987-3C35-7473-D268-2055F6BEE5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F9D293-1B5B-7DCB-9B0D-B3E7ED908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A77A0-6314-4D32-BB12-51BE269E3CFD}" type="datetime1">
              <a:rPr lang="lt-LT" smtClean="0"/>
              <a:t>2026-05-29</a:t>
            </a:fld>
            <a:endParaRPr lang="lt-L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11A0F9-86DC-2A58-3D34-A3513E52E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5C7DB8-AA1C-D6D0-5801-CF80128DF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46CF2-B7B4-41BF-BF00-F9B5AB208BC6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383034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2B0FD-5205-8DA1-3397-04E80C96F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t-L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11675C-BD0D-E5ED-385D-D83336825E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t-L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40DA17-3EDA-0DCE-B5C8-B9C33AF650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DCC1F2-82E3-C0C3-4357-32C309121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5178E-6827-40F6-B0E6-0C33A2701354}" type="datetime1">
              <a:rPr lang="lt-LT" smtClean="0"/>
              <a:t>2026-05-29</a:t>
            </a:fld>
            <a:endParaRPr lang="lt-L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A8FFED-63CC-F53B-E022-0414837AA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B67F49-4056-09B0-8E97-8F4F88B33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46CF2-B7B4-41BF-BF00-F9B5AB208BC6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156627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7ADFD-24CA-E4AB-A950-3DE05AC3C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t-L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D27E5C-4B4D-92CB-5EE9-DF90EF7CC8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t-L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36C013-B7AD-72ED-141E-421E3571A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DAE96-455D-49AB-8F28-3FCBA1571642}" type="datetime1">
              <a:rPr lang="lt-LT" smtClean="0"/>
              <a:t>2026-05-29</a:t>
            </a:fld>
            <a:endParaRPr lang="lt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25CDD1-4AD5-93E1-182A-662DD988B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11289-556F-3A34-77D4-CAB4334C5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46CF2-B7B4-41BF-BF00-F9B5AB208BC6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938165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3BA53B-0D4B-55A2-DA02-0794645112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t-L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CDD807-0C8C-FED5-643E-901985F925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t-L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F5F0E4-6E9A-2DFC-9C87-B2C7D35FD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14562-7BD9-4915-AF80-8A3D110340AD}" type="datetime1">
              <a:rPr lang="lt-LT" smtClean="0"/>
              <a:t>2026-05-29</a:t>
            </a:fld>
            <a:endParaRPr lang="lt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563420-8737-7C5F-95A7-6AB7D458B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C9B820-8682-6ED6-6156-AC6816AC7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46CF2-B7B4-41BF-BF00-F9B5AB208BC6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543591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E68662-C00D-6E0B-0DBA-A14FE21D9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t-L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38B5C5-C6B7-74C4-82DD-F910F31E22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t-L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0530C6-FD46-3A8C-8A5C-7E7649496D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3E8B5F-9BDB-4409-A58A-CA1C8A081A8E}" type="datetime1">
              <a:rPr lang="lt-LT" smtClean="0"/>
              <a:t>2026-05-29</a:t>
            </a:fld>
            <a:endParaRPr lang="lt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A39430-464F-60CD-06B0-4F47F788C5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t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04234D-C27A-AEFA-9803-086C3D81FD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746CF2-B7B4-41BF-BF00-F9B5AB208BC6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881533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t-L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21A6A77-D4FA-1E48-FF31-A1D571AA0732}"/>
              </a:ext>
            </a:extLst>
          </p:cNvPr>
          <p:cNvSpPr/>
          <p:nvPr/>
        </p:nvSpPr>
        <p:spPr>
          <a:xfrm>
            <a:off x="0" y="5522041"/>
            <a:ext cx="12192000" cy="18582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82CD26-6DFC-F5E7-CA65-E91F6412EA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33638"/>
            <a:ext cx="9144000" cy="2564736"/>
          </a:xfrm>
        </p:spPr>
        <p:txBody>
          <a:bodyPr/>
          <a:lstStyle/>
          <a:p>
            <a:r>
              <a:rPr lang="en-US" dirty="0" err="1"/>
              <a:t>Wyszukiwanie</a:t>
            </a:r>
            <a:r>
              <a:rPr lang="en-US" dirty="0"/>
              <a:t> </a:t>
            </a:r>
            <a:r>
              <a:rPr lang="pl-PL" dirty="0"/>
              <a:t>ścieżki za pomocą algorytmu Dijkstry</a:t>
            </a:r>
            <a:endParaRPr lang="lt-LT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84FA61-1810-9D2B-96D3-7AB4287790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19483"/>
            <a:ext cx="9144000" cy="1049591"/>
          </a:xfrm>
        </p:spPr>
        <p:txBody>
          <a:bodyPr>
            <a:normAutofit fontScale="92500" lnSpcReduction="10000"/>
          </a:bodyPr>
          <a:lstStyle/>
          <a:p>
            <a:r>
              <a:rPr lang="pl-PL" dirty="0"/>
              <a:t>Daniel Subatovi</a:t>
            </a:r>
            <a:r>
              <a:rPr lang="lt-LT" dirty="0"/>
              <a:t>č</a:t>
            </a:r>
            <a:endParaRPr lang="pl-PL" dirty="0"/>
          </a:p>
          <a:p>
            <a:r>
              <a:rPr lang="pl-PL" sz="1800" dirty="0"/>
              <a:t>Informatyka</a:t>
            </a:r>
          </a:p>
          <a:p>
            <a:r>
              <a:rPr lang="pl-PL" sz="1800" dirty="0"/>
              <a:t>2026.0</a:t>
            </a:r>
            <a:r>
              <a:rPr lang="en-US" sz="1800" dirty="0"/>
              <a:t>4</a:t>
            </a:r>
            <a:r>
              <a:rPr lang="pl-PL" sz="1800" dirty="0"/>
              <a:t>.</a:t>
            </a:r>
            <a:r>
              <a:rPr lang="en-US" sz="1800" dirty="0"/>
              <a:t>0</a:t>
            </a:r>
            <a:r>
              <a:rPr lang="pl-PL" sz="1800" dirty="0"/>
              <a:t>1</a:t>
            </a:r>
            <a:endParaRPr lang="lt-LT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6FE3FD-DF4F-4C81-E283-209BC98AE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492976"/>
            <a:ext cx="2743200" cy="365125"/>
          </a:xfrm>
        </p:spPr>
        <p:txBody>
          <a:bodyPr/>
          <a:lstStyle/>
          <a:p>
            <a:fld id="{FA746CF2-B7B4-41BF-BF00-F9B5AB208BC6}" type="slidenum">
              <a:rPr lang="lt-LT" smtClean="0">
                <a:solidFill>
                  <a:schemeClr val="tx1"/>
                </a:solidFill>
              </a:rPr>
              <a:pPr/>
              <a:t>1</a:t>
            </a:fld>
            <a:endParaRPr lang="lt-LT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35912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21B98E-28DC-7FA3-C990-B0310BEB0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B585109-A952-D2D4-FF8F-7F47205F7780}"/>
              </a:ext>
            </a:extLst>
          </p:cNvPr>
          <p:cNvSpPr/>
          <p:nvPr/>
        </p:nvSpPr>
        <p:spPr>
          <a:xfrm>
            <a:off x="0" y="5522041"/>
            <a:ext cx="12192000" cy="18582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C39963-A41E-A0C5-848A-1873C78587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211763"/>
          </a:xfrm>
        </p:spPr>
        <p:txBody>
          <a:bodyPr>
            <a:normAutofit/>
          </a:bodyPr>
          <a:lstStyle/>
          <a:p>
            <a:pPr algn="l"/>
            <a:r>
              <a:rPr lang="pl-PL" sz="3600" dirty="0"/>
              <a:t>Wprowadzenie</a:t>
            </a:r>
            <a:endParaRPr lang="lt-LT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722DA3-3CC5-0495-D0D5-E61E3AAA17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30378"/>
            <a:ext cx="9144000" cy="2827421"/>
          </a:xfrm>
        </p:spPr>
        <p:txBody>
          <a:bodyPr>
            <a:normAutofit/>
          </a:bodyPr>
          <a:lstStyle/>
          <a:p>
            <a:pPr algn="l"/>
            <a:r>
              <a:rPr lang="pl-PL" sz="1800" b="1" dirty="0"/>
              <a:t>Celem  pracy  było</a:t>
            </a:r>
            <a:r>
              <a:rPr lang="pl-PL" sz="1800" dirty="0"/>
              <a:t> stworzenie prostej WEB programy która w prosty dla zrozumienia sposób przedstawi działanie algorytmu dijkstry. </a:t>
            </a:r>
          </a:p>
          <a:p>
            <a:pPr algn="l"/>
            <a:endParaRPr lang="lt-LT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5856EE-7F3B-C52E-B7FB-67F5CF985C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5000" y="3124587"/>
            <a:ext cx="4572000" cy="37004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67D9744-E5DE-C07B-8A1D-6DB514AFD6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1683" y="3124587"/>
            <a:ext cx="4305300" cy="3719987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0BE18-DC2D-C309-FD6F-39CFD6EB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495433"/>
            <a:ext cx="2743200" cy="365125"/>
          </a:xfrm>
        </p:spPr>
        <p:txBody>
          <a:bodyPr/>
          <a:lstStyle/>
          <a:p>
            <a:fld id="{FA746CF2-B7B4-41BF-BF00-F9B5AB208BC6}" type="slidenum">
              <a:rPr lang="lt-LT" smtClean="0"/>
              <a:t>2</a:t>
            </a:fld>
            <a:endParaRPr lang="lt-LT" dirty="0"/>
          </a:p>
        </p:txBody>
      </p:sp>
    </p:spTree>
    <p:extLst>
      <p:ext uri="{BB962C8B-B14F-4D97-AF65-F5344CB8AC3E}">
        <p14:creationId xmlns:p14="http://schemas.microsoft.com/office/powerpoint/2010/main" val="13448590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DF5B22-FB42-92C4-1491-29EF414C8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FD5B040-E143-698A-36C5-4821ABDFE28D}"/>
              </a:ext>
            </a:extLst>
          </p:cNvPr>
          <p:cNvSpPr/>
          <p:nvPr/>
        </p:nvSpPr>
        <p:spPr>
          <a:xfrm>
            <a:off x="0" y="5128751"/>
            <a:ext cx="12192000" cy="18582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D31B1E-7837-58D8-A19C-A8792D9D67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211763"/>
          </a:xfrm>
        </p:spPr>
        <p:txBody>
          <a:bodyPr>
            <a:normAutofit/>
          </a:bodyPr>
          <a:lstStyle/>
          <a:p>
            <a:pPr algn="l"/>
            <a:r>
              <a:rPr lang="pl-PL" sz="3600" dirty="0"/>
              <a:t>Teoria algorytmu</a:t>
            </a:r>
            <a:endParaRPr lang="lt-LT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6B5ABC-7072-8906-0135-D74F1B8035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1" y="2430378"/>
            <a:ext cx="5997676" cy="3551322"/>
          </a:xfrm>
        </p:spPr>
        <p:txBody>
          <a:bodyPr>
            <a:normAutofit lnSpcReduction="10000"/>
          </a:bodyPr>
          <a:lstStyle/>
          <a:p>
            <a:pPr algn="l"/>
            <a:r>
              <a:rPr lang="pl-PL" sz="1800" dirty="0"/>
              <a:t>Program pozwala na poszukiwanie drogi w sposób co zaimplementował dijkstra.</a:t>
            </a:r>
          </a:p>
          <a:p>
            <a:pPr algn="l"/>
            <a:r>
              <a:rPr lang="pl-PL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S</a:t>
            </a:r>
            <a:r>
              <a:rPr lang="pl-PL" sz="1800" dirty="0"/>
              <a:t> – start;</a:t>
            </a:r>
            <a:r>
              <a:rPr lang="pl-PL" sz="1600" dirty="0"/>
              <a:t> </a:t>
            </a:r>
            <a:r>
              <a:rPr lang="pl-PL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d(j)</a:t>
            </a:r>
            <a:r>
              <a:rPr lang="pl-PL" sz="1600" dirty="0"/>
              <a:t> </a:t>
            </a:r>
            <a:r>
              <a:rPr lang="pl-PL" sz="1800" dirty="0"/>
              <a:t>– aktualna min. długość od startu do </a:t>
            </a:r>
            <a:r>
              <a:rPr lang="pl-PL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j</a:t>
            </a:r>
            <a:r>
              <a:rPr lang="pl-PL" sz="1800" dirty="0"/>
              <a:t>; </a:t>
            </a:r>
            <a:br>
              <a:rPr lang="pl-PL" sz="1800" dirty="0"/>
            </a:br>
            <a:r>
              <a:rPr lang="pl-PL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W(i,j)</a:t>
            </a:r>
            <a:r>
              <a:rPr lang="pl-PL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pl-PL" sz="1800" dirty="0"/>
              <a:t>– waga podanych krawędzi</a:t>
            </a:r>
          </a:p>
          <a:p>
            <a:pPr marL="342900" indent="-342900" algn="l">
              <a:buAutoNum type="arabicPeriod"/>
            </a:pPr>
            <a:r>
              <a:rPr lang="pl-PL" sz="1800" dirty="0"/>
              <a:t>Inicjalizacja: </a:t>
            </a:r>
            <a:r>
              <a:rPr lang="pl-PL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d(S)=0, d(j)=INFINITY</a:t>
            </a:r>
            <a:r>
              <a:rPr lang="pl-PL" sz="1400" dirty="0"/>
              <a:t> </a:t>
            </a:r>
            <a:r>
              <a:rPr lang="pl-PL" sz="1800" dirty="0"/>
              <a:t>dla wszystkich innych wierzchołków.</a:t>
            </a:r>
          </a:p>
          <a:p>
            <a:pPr marL="342900" indent="-342900" algn="l">
              <a:buAutoNum type="arabicPeriod"/>
            </a:pPr>
            <a:r>
              <a:rPr lang="pl-PL" sz="1800" dirty="0"/>
              <a:t>Selekcja: Wybieramy wierzchołek o aktualnej minimalnej długości (w programie to wykonuje się przez </a:t>
            </a:r>
            <a:r>
              <a:rPr lang="pl-PL" sz="1800" i="1" dirty="0"/>
              <a:t>sort</a:t>
            </a:r>
            <a:r>
              <a:rPr lang="pl-PL" sz="1800" dirty="0"/>
              <a:t>)</a:t>
            </a:r>
          </a:p>
          <a:p>
            <a:pPr marL="342900" indent="-342900" algn="l">
              <a:buAutoNum type="arabicPeriod"/>
            </a:pPr>
            <a:r>
              <a:rPr lang="pl-PL" sz="1800" dirty="0"/>
              <a:t>Dla każdego nieodwiedzonego sąsiada jest aktualizowana odległość przez wzor </a:t>
            </a:r>
            <a:r>
              <a:rPr lang="pl-PL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d(j)=min(d(j),d(i) + W(i,j))</a:t>
            </a:r>
            <a:r>
              <a:rPr lang="pl-PL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pl-PL" sz="1800" dirty="0"/>
              <a:t>w programie to </a:t>
            </a:r>
            <a:r>
              <a:rPr lang="pl-PL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d(j)= d(i)+1</a:t>
            </a:r>
            <a:endParaRPr lang="pl-PL" sz="18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C7319E-620B-A736-930D-4E24E39A89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0510" y="1530603"/>
            <a:ext cx="4241398" cy="532861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248C94-0CF1-8F34-B9C7-C6A676A5D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492875"/>
            <a:ext cx="2743200" cy="365125"/>
          </a:xfrm>
        </p:spPr>
        <p:txBody>
          <a:bodyPr/>
          <a:lstStyle/>
          <a:p>
            <a:fld id="{FA746CF2-B7B4-41BF-BF00-F9B5AB208BC6}" type="slidenum">
              <a:rPr lang="lt-LT" smtClean="0"/>
              <a:t>3</a:t>
            </a:fld>
            <a:endParaRPr lang="lt-LT" dirty="0"/>
          </a:p>
        </p:txBody>
      </p:sp>
    </p:spTree>
    <p:extLst>
      <p:ext uri="{BB962C8B-B14F-4D97-AF65-F5344CB8AC3E}">
        <p14:creationId xmlns:p14="http://schemas.microsoft.com/office/powerpoint/2010/main" val="22855755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EF52E8-B948-1DB4-80F2-1573C1A78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B38CF1A-339F-881B-BA77-375345E0E016}"/>
              </a:ext>
            </a:extLst>
          </p:cNvPr>
          <p:cNvSpPr/>
          <p:nvPr/>
        </p:nvSpPr>
        <p:spPr>
          <a:xfrm>
            <a:off x="0" y="5128751"/>
            <a:ext cx="12192000" cy="18582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FDCB25-AA5F-20CC-559D-73784A57DA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211763"/>
          </a:xfrm>
        </p:spPr>
        <p:txBody>
          <a:bodyPr>
            <a:normAutofit/>
          </a:bodyPr>
          <a:lstStyle/>
          <a:p>
            <a:pPr algn="l"/>
            <a:r>
              <a:rPr lang="pl-PL" sz="3600" dirty="0"/>
              <a:t>Opis problemu</a:t>
            </a:r>
            <a:endParaRPr lang="lt-LT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67AC3C-788A-85AD-29F4-4EB7B278A9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14599"/>
            <a:ext cx="5177589" cy="3633538"/>
          </a:xfrm>
        </p:spPr>
        <p:txBody>
          <a:bodyPr>
            <a:normAutofit/>
          </a:bodyPr>
          <a:lstStyle/>
          <a:p>
            <a:pPr algn="l"/>
            <a:r>
              <a:rPr lang="pl-PL" sz="1800" dirty="0"/>
              <a:t>Program demonstruje działanie algorytma dijkstry w zrozumiały dla większości sposób.</a:t>
            </a:r>
          </a:p>
          <a:p>
            <a:pPr algn="l"/>
            <a:r>
              <a:rPr lang="pl-PL" sz="1800" dirty="0"/>
              <a:t>Animacja jest realizowan wyłącznie czystym JS z pomocą stylów CSS, dlatego animacja nie jest skomplikowana tak samo jak i kod.</a:t>
            </a:r>
          </a:p>
          <a:p>
            <a:pPr algn="l"/>
            <a:endParaRPr lang="pl-PL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B67603-6334-CD69-7044-BE7E509C7B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284" y="4024123"/>
            <a:ext cx="1124107" cy="10383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768349D-6EA8-EF51-4D37-42B8B7BBBB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2965" y="4024123"/>
            <a:ext cx="2753109" cy="269595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7A3E123-ADFC-0E0C-3CE4-3BCB029CB33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076"/>
          <a:stretch>
            <a:fillRect/>
          </a:stretch>
        </p:blipFill>
        <p:spPr>
          <a:xfrm>
            <a:off x="6488601" y="4001845"/>
            <a:ext cx="5343307" cy="1733792"/>
          </a:xfrm>
          <a:prstGeom prst="rect">
            <a:avLst/>
          </a:prstGeom>
        </p:spPr>
      </p:pic>
      <p:sp>
        <p:nvSpPr>
          <p:cNvPr id="13" name="Subtitle 2">
            <a:extLst>
              <a:ext uri="{FF2B5EF4-FFF2-40B4-BE49-F238E27FC236}">
                <a16:creationId xmlns:a16="http://schemas.microsoft.com/office/drawing/2014/main" id="{9D941988-767A-C768-480C-F31AE4E1E4E0}"/>
              </a:ext>
            </a:extLst>
          </p:cNvPr>
          <p:cNvSpPr txBox="1">
            <a:spLocks/>
          </p:cNvSpPr>
          <p:nvPr/>
        </p:nvSpPr>
        <p:spPr>
          <a:xfrm>
            <a:off x="6488601" y="3352800"/>
            <a:ext cx="5177589" cy="29758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l-PL" sz="1800" dirty="0"/>
              <a:t>Program zapisuje skąd przyszliśmy, dlatego lekko znajdziemy drogę nazad.</a:t>
            </a:r>
          </a:p>
          <a:p>
            <a:pPr algn="l"/>
            <a:endParaRPr lang="pl-PL" sz="1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F52A32-F3DC-91CD-9B4A-817BE205A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492875"/>
            <a:ext cx="2743200" cy="365125"/>
          </a:xfrm>
        </p:spPr>
        <p:txBody>
          <a:bodyPr/>
          <a:lstStyle/>
          <a:p>
            <a:fld id="{FA746CF2-B7B4-41BF-BF00-F9B5AB208BC6}" type="slidenum">
              <a:rPr lang="lt-LT" smtClean="0"/>
              <a:t>4</a:t>
            </a:fld>
            <a:endParaRPr lang="lt-LT" dirty="0"/>
          </a:p>
        </p:txBody>
      </p:sp>
    </p:spTree>
    <p:extLst>
      <p:ext uri="{BB962C8B-B14F-4D97-AF65-F5344CB8AC3E}">
        <p14:creationId xmlns:p14="http://schemas.microsoft.com/office/powerpoint/2010/main" val="11494386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91CA5A-AD57-E9CC-3B67-EFE09A7E9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4F7D3BC-C3E3-2C59-F2F9-E152EBD6365C}"/>
              </a:ext>
            </a:extLst>
          </p:cNvPr>
          <p:cNvSpPr/>
          <p:nvPr/>
        </p:nvSpPr>
        <p:spPr>
          <a:xfrm>
            <a:off x="0" y="5128751"/>
            <a:ext cx="12192000" cy="18582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D86EFB-DF3C-EBFC-99F1-38A68530A8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211763"/>
          </a:xfrm>
        </p:spPr>
        <p:txBody>
          <a:bodyPr>
            <a:normAutofit/>
          </a:bodyPr>
          <a:lstStyle/>
          <a:p>
            <a:pPr algn="l"/>
            <a:r>
              <a:rPr lang="pl-PL" sz="3600" dirty="0"/>
              <a:t>Implementacja</a:t>
            </a:r>
            <a:endParaRPr lang="lt-LT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6A0E7E-663D-1B46-A438-E85EA22A99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1" y="2430378"/>
            <a:ext cx="7073449" cy="3911428"/>
          </a:xfrm>
        </p:spPr>
        <p:txBody>
          <a:bodyPr>
            <a:normAutofit/>
          </a:bodyPr>
          <a:lstStyle/>
          <a:p>
            <a:pPr algn="l"/>
            <a:r>
              <a:rPr lang="pl-PL" sz="1800" b="1" dirty="0"/>
              <a:t>Technologie</a:t>
            </a:r>
            <a:r>
              <a:rPr lang="pl-PL" sz="1800" dirty="0"/>
              <a:t>: HTML, CSS, Javascrypt</a:t>
            </a:r>
          </a:p>
          <a:p>
            <a:pPr algn="l"/>
            <a:endParaRPr lang="pl-PL" sz="1800" b="1" dirty="0"/>
          </a:p>
          <a:p>
            <a:pPr algn="l"/>
            <a:endParaRPr lang="pl-PL" sz="1800" b="1" dirty="0"/>
          </a:p>
          <a:p>
            <a:pPr algn="l"/>
            <a:endParaRPr lang="pl-PL" sz="1800" b="1" dirty="0"/>
          </a:p>
          <a:p>
            <a:pPr algn="l"/>
            <a:endParaRPr lang="pl-PL" sz="1800" b="1" dirty="0"/>
          </a:p>
          <a:p>
            <a:pPr algn="l"/>
            <a:endParaRPr lang="pl-PL" sz="1800" b="1" dirty="0"/>
          </a:p>
          <a:p>
            <a:pPr algn="l"/>
            <a:r>
              <a:rPr lang="en-US" sz="1800" b="1" dirty="0" err="1"/>
              <a:t>Kod</a:t>
            </a:r>
            <a:r>
              <a:rPr lang="en-US" sz="1800" b="1" dirty="0"/>
              <a:t> </a:t>
            </a:r>
            <a:r>
              <a:rPr lang="pl-PL" sz="1800" b="1" dirty="0"/>
              <a:t>źródłowy</a:t>
            </a:r>
            <a:r>
              <a:rPr lang="pl-PL" sz="1800" dirty="0"/>
              <a:t>: </a:t>
            </a:r>
          </a:p>
          <a:p>
            <a:pPr algn="l"/>
            <a:endParaRPr lang="pl-PL" sz="1800" dirty="0"/>
          </a:p>
          <a:p>
            <a:pPr algn="l"/>
            <a:r>
              <a:rPr lang="pl-PL" sz="1800" dirty="0"/>
              <a:t>		</a:t>
            </a:r>
            <a:br>
              <a:rPr lang="pl-PL" sz="1800" dirty="0"/>
            </a:br>
            <a:r>
              <a:rPr lang="pl-PL" sz="1800" dirty="0"/>
              <a:t>		https://github.com/DanielSuba/algorithm-dijkstra</a:t>
            </a:r>
            <a:endParaRPr lang="pl-PL" sz="1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06BAFA-5617-4F30-497A-DD0DA197C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492875"/>
            <a:ext cx="2743200" cy="365125"/>
          </a:xfrm>
        </p:spPr>
        <p:txBody>
          <a:bodyPr/>
          <a:lstStyle/>
          <a:p>
            <a:fld id="{FA746CF2-B7B4-41BF-BF00-F9B5AB208BC6}" type="slidenum">
              <a:rPr lang="lt-LT" smtClean="0"/>
              <a:t>5</a:t>
            </a:fld>
            <a:endParaRPr lang="lt-LT" dirty="0"/>
          </a:p>
        </p:txBody>
      </p:sp>
      <p:pic>
        <p:nvPicPr>
          <p:cNvPr id="1028" name="Picture 4" descr="Html5 - free Icon PNG, SVG">
            <a:extLst>
              <a:ext uri="{FF2B5EF4-FFF2-40B4-BE49-F238E27FC236}">
                <a16:creationId xmlns:a16="http://schemas.microsoft.com/office/drawing/2014/main" id="{6B6B8D1C-1916-A761-AA43-B33F3E9A2F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7667" y="2170466"/>
            <a:ext cx="1487128" cy="1487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SS Icon SVG Vector &amp; PNG Free Download | UXWing">
            <a:extLst>
              <a:ext uri="{FF2B5EF4-FFF2-40B4-BE49-F238E27FC236}">
                <a16:creationId xmlns:a16="http://schemas.microsoft.com/office/drawing/2014/main" id="{A0BC34FD-2353-B46B-CFF5-FB63368D2D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7117" y="3829473"/>
            <a:ext cx="1098034" cy="1232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Javascript icon logo editorial photo. Illustration of typing - 204759326">
            <a:extLst>
              <a:ext uri="{FF2B5EF4-FFF2-40B4-BE49-F238E27FC236}">
                <a16:creationId xmlns:a16="http://schemas.microsoft.com/office/drawing/2014/main" id="{1F66D6A6-3ABF-5E31-286A-D0B08D35F6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5762" y="5345819"/>
            <a:ext cx="1134171" cy="1288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Github Logo - Free social media icons">
            <a:extLst>
              <a:ext uri="{FF2B5EF4-FFF2-40B4-BE49-F238E27FC236}">
                <a16:creationId xmlns:a16="http://schemas.microsoft.com/office/drawing/2014/main" id="{648A34F5-E401-DA99-4DA8-B58D877F92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2322" y="5128751"/>
            <a:ext cx="1430703" cy="1430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62B0BD0-7A8F-A556-066B-68513B30D44C}"/>
              </a:ext>
            </a:extLst>
          </p:cNvPr>
          <p:cNvSpPr txBox="1"/>
          <p:nvPr/>
        </p:nvSpPr>
        <p:spPr>
          <a:xfrm>
            <a:off x="7266039" y="203137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800" dirty="0"/>
              <a:t>HTML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C6FD00-5115-6FAB-C253-91B0BF99C78D}"/>
              </a:ext>
            </a:extLst>
          </p:cNvPr>
          <p:cNvSpPr txBox="1"/>
          <p:nvPr/>
        </p:nvSpPr>
        <p:spPr>
          <a:xfrm>
            <a:off x="9058034" y="3513483"/>
            <a:ext cx="66810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800" dirty="0"/>
              <a:t>CSS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5BFDC6-D723-8C37-E32E-3EEEE7F12C93}"/>
              </a:ext>
            </a:extLst>
          </p:cNvPr>
          <p:cNvSpPr txBox="1"/>
          <p:nvPr/>
        </p:nvSpPr>
        <p:spPr>
          <a:xfrm>
            <a:off x="10569678" y="4995593"/>
            <a:ext cx="272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800" dirty="0"/>
              <a:t>Javascrypt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56187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02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103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103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103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8604E3-A521-7029-AA65-6526F05A9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69F1F-3496-1DF3-48E9-113C004483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211763"/>
          </a:xfrm>
        </p:spPr>
        <p:txBody>
          <a:bodyPr>
            <a:normAutofit/>
          </a:bodyPr>
          <a:lstStyle/>
          <a:p>
            <a:pPr algn="l"/>
            <a:r>
              <a:rPr lang="pl-PL" sz="3600" dirty="0"/>
              <a:t>Funkcjonalność</a:t>
            </a:r>
            <a:endParaRPr lang="lt-LT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6DC0F3-4128-AD30-EFAC-4F5B0CE402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30378"/>
            <a:ext cx="4109884" cy="2827421"/>
          </a:xfrm>
        </p:spPr>
        <p:txBody>
          <a:bodyPr>
            <a:normAutofit/>
          </a:bodyPr>
          <a:lstStyle/>
          <a:p>
            <a:pPr algn="l"/>
            <a:r>
              <a:rPr lang="pl-PL" sz="1800" dirty="0"/>
              <a:t>Możno generować siatkę o różnych rozmiarach, wybierać pozycje startu/końca, zastanawiać algorytm, zmieniać kolor dla węzłów, pokazać wagi na węzłach, generować ścianki lub ich stawić ręcznie.</a:t>
            </a:r>
          </a:p>
          <a:p>
            <a:pPr algn="l"/>
            <a:endParaRPr lang="pl-PL" sz="1400" dirty="0"/>
          </a:p>
          <a:p>
            <a:pPr algn="l"/>
            <a:endParaRPr lang="pl-PL" sz="1400" dirty="0"/>
          </a:p>
          <a:p>
            <a:pPr algn="l"/>
            <a:endParaRPr lang="pl-PL" sz="1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D6F98C-8E6B-0EB4-894D-7AC9624C850C}"/>
              </a:ext>
            </a:extLst>
          </p:cNvPr>
          <p:cNvSpPr/>
          <p:nvPr/>
        </p:nvSpPr>
        <p:spPr>
          <a:xfrm>
            <a:off x="0" y="5128751"/>
            <a:ext cx="12192000" cy="18582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EAFC30-9209-9B5A-B9C9-B39C255EC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492875"/>
            <a:ext cx="2743200" cy="365125"/>
          </a:xfrm>
        </p:spPr>
        <p:txBody>
          <a:bodyPr/>
          <a:lstStyle/>
          <a:p>
            <a:fld id="{FA746CF2-B7B4-41BF-BF00-F9B5AB208BC6}" type="slidenum">
              <a:rPr lang="lt-LT" smtClean="0"/>
              <a:t>6</a:t>
            </a:fld>
            <a:endParaRPr lang="lt-LT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47EEE25-0696-1E46-5FB9-74C8D20D2B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3258" y="3959931"/>
            <a:ext cx="2636748" cy="268247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074A974-0F0B-3230-4600-3F76DAA152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9458" y="1505657"/>
            <a:ext cx="2606266" cy="394750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2D455BB-9C1D-1424-8268-A41AE89DDE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5176" y="1505657"/>
            <a:ext cx="2629128" cy="18442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242273D-B551-ADA6-E866-CF1D65C782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35176" y="3429000"/>
            <a:ext cx="2667231" cy="244623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48706C6-CC57-B706-CBC7-CE43F3AC18E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2055" y="5540293"/>
            <a:ext cx="2430366" cy="415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8312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743A8B-D018-2E9E-9DE9-5C1E0719D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D22957E-203E-0C86-FD1A-D919A08B05FF}"/>
              </a:ext>
            </a:extLst>
          </p:cNvPr>
          <p:cNvSpPr/>
          <p:nvPr/>
        </p:nvSpPr>
        <p:spPr>
          <a:xfrm>
            <a:off x="0" y="5128751"/>
            <a:ext cx="12192000" cy="18582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812A3C-90B7-749D-CEE7-F9D4ECD47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492875"/>
            <a:ext cx="2743200" cy="365125"/>
          </a:xfrm>
        </p:spPr>
        <p:txBody>
          <a:bodyPr/>
          <a:lstStyle/>
          <a:p>
            <a:fld id="{FA746CF2-B7B4-41BF-BF00-F9B5AB208BC6}" type="slidenum">
              <a:rPr lang="lt-LT" smtClean="0"/>
              <a:t>7</a:t>
            </a:fld>
            <a:endParaRPr lang="lt-LT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341280-AD42-D268-A8F9-AA2E9C1C69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2435" y="3339231"/>
            <a:ext cx="3087931" cy="3023091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FDA0F0D-7900-A13B-ABAA-AC47770A5B2D}"/>
              </a:ext>
            </a:extLst>
          </p:cNvPr>
          <p:cNvSpPr txBox="1">
            <a:spLocks/>
          </p:cNvSpPr>
          <p:nvPr/>
        </p:nvSpPr>
        <p:spPr>
          <a:xfrm>
            <a:off x="1524000" y="1122363"/>
            <a:ext cx="9144000" cy="12117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l-PL" sz="3600" dirty="0"/>
              <a:t>Demonstracja</a:t>
            </a:r>
            <a:endParaRPr lang="lt-LT" sz="3600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4277B8F-888D-2BBB-E576-FE43CAF6DB0F}"/>
              </a:ext>
            </a:extLst>
          </p:cNvPr>
          <p:cNvSpPr>
            <a:spLocks noGrp="1"/>
          </p:cNvSpPr>
          <p:nvPr/>
        </p:nvSpPr>
        <p:spPr>
          <a:xfrm>
            <a:off x="7969758" y="3325889"/>
            <a:ext cx="323850" cy="3238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E8DCE0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7B54071F-E5F6-CA6C-49D2-7A2ECE60F4B8}"/>
              </a:ext>
            </a:extLst>
          </p:cNvPr>
          <p:cNvSpPr>
            <a:spLocks noGrp="1"/>
          </p:cNvSpPr>
          <p:nvPr/>
        </p:nvSpPr>
        <p:spPr>
          <a:xfrm>
            <a:off x="8312658" y="3325889"/>
            <a:ext cx="323850" cy="3238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E8DCE0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AAB39010-AF9F-A34D-5B08-D02023A66202}"/>
              </a:ext>
            </a:extLst>
          </p:cNvPr>
          <p:cNvSpPr>
            <a:spLocks noGrp="1"/>
          </p:cNvSpPr>
          <p:nvPr/>
        </p:nvSpPr>
        <p:spPr>
          <a:xfrm>
            <a:off x="8655558" y="3325889"/>
            <a:ext cx="323850" cy="3238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E8DCE0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4680BFCF-D78D-131A-80F7-9490B06E617A}"/>
              </a:ext>
            </a:extLst>
          </p:cNvPr>
          <p:cNvSpPr>
            <a:spLocks noGrp="1"/>
          </p:cNvSpPr>
          <p:nvPr/>
        </p:nvSpPr>
        <p:spPr>
          <a:xfrm>
            <a:off x="8998458" y="3325889"/>
            <a:ext cx="323850" cy="3238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E8DCE0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7D7C47E1-3966-ACF4-46D5-CC9462CBCEA5}"/>
              </a:ext>
            </a:extLst>
          </p:cNvPr>
          <p:cNvSpPr>
            <a:spLocks noGrp="1"/>
          </p:cNvSpPr>
          <p:nvPr/>
        </p:nvSpPr>
        <p:spPr>
          <a:xfrm>
            <a:off x="9341358" y="3325889"/>
            <a:ext cx="323850" cy="3238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E8DCE0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A96D1FA6-1998-183E-EAD7-0E20E1E00FFA}"/>
              </a:ext>
            </a:extLst>
          </p:cNvPr>
          <p:cNvSpPr>
            <a:spLocks noGrp="1"/>
          </p:cNvSpPr>
          <p:nvPr/>
        </p:nvSpPr>
        <p:spPr>
          <a:xfrm>
            <a:off x="9684258" y="3325889"/>
            <a:ext cx="323850" cy="3238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E8DCE0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9A92FCF6-3AE0-1E66-AD38-25832BF9A326}"/>
              </a:ext>
            </a:extLst>
          </p:cNvPr>
          <p:cNvSpPr>
            <a:spLocks noGrp="1"/>
          </p:cNvSpPr>
          <p:nvPr/>
        </p:nvSpPr>
        <p:spPr>
          <a:xfrm>
            <a:off x="10027158" y="3325889"/>
            <a:ext cx="323850" cy="3238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E8DCE0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E485AFD4-4E26-BD4D-B5B3-CC1780BA1EEC}"/>
              </a:ext>
            </a:extLst>
          </p:cNvPr>
          <p:cNvSpPr>
            <a:spLocks noGrp="1"/>
          </p:cNvSpPr>
          <p:nvPr/>
        </p:nvSpPr>
        <p:spPr>
          <a:xfrm>
            <a:off x="10370058" y="3325889"/>
            <a:ext cx="323850" cy="3238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E8DCE0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3A5B3034-D0F5-646A-76DA-9C9E69C6E55F}"/>
              </a:ext>
            </a:extLst>
          </p:cNvPr>
          <p:cNvSpPr>
            <a:spLocks noGrp="1"/>
          </p:cNvSpPr>
          <p:nvPr/>
        </p:nvSpPr>
        <p:spPr>
          <a:xfrm>
            <a:off x="10712958" y="3325889"/>
            <a:ext cx="323850" cy="3238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E8DCE0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89960B7C-070F-FED6-4BBD-45E64AFCE6D2}"/>
              </a:ext>
            </a:extLst>
          </p:cNvPr>
          <p:cNvSpPr>
            <a:spLocks noGrp="1"/>
          </p:cNvSpPr>
          <p:nvPr/>
        </p:nvSpPr>
        <p:spPr>
          <a:xfrm>
            <a:off x="7969758" y="3668789"/>
            <a:ext cx="323850" cy="3238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E8DCE0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F5400743-4C9E-D4BD-40C4-7613AA7F0834}"/>
              </a:ext>
            </a:extLst>
          </p:cNvPr>
          <p:cNvSpPr>
            <a:spLocks noGrp="1"/>
          </p:cNvSpPr>
          <p:nvPr/>
        </p:nvSpPr>
        <p:spPr>
          <a:xfrm>
            <a:off x="8312658" y="3668789"/>
            <a:ext cx="323850" cy="323850"/>
          </a:xfrm>
          <a:prstGeom prst="rect">
            <a:avLst/>
          </a:prstGeom>
          <a:solidFill>
            <a:srgbClr val="148F63"/>
          </a:solidFill>
          <a:ln w="9525">
            <a:solidFill>
              <a:srgbClr val="E8DCE0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4753C86B-13C9-196E-F50A-F3EC0A4D3B96}"/>
              </a:ext>
            </a:extLst>
          </p:cNvPr>
          <p:cNvSpPr>
            <a:spLocks noGrp="1"/>
          </p:cNvSpPr>
          <p:nvPr/>
        </p:nvSpPr>
        <p:spPr>
          <a:xfrm>
            <a:off x="8312658" y="3735464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78DC3810-BF80-5902-9E5D-B1C3AC464B8A}"/>
              </a:ext>
            </a:extLst>
          </p:cNvPr>
          <p:cNvSpPr>
            <a:spLocks noGrp="1"/>
          </p:cNvSpPr>
          <p:nvPr/>
        </p:nvSpPr>
        <p:spPr>
          <a:xfrm>
            <a:off x="8655558" y="3668789"/>
            <a:ext cx="323850" cy="3238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E8DCE0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05D26CEB-D30F-5349-EB6D-4EB825512BA8}"/>
              </a:ext>
            </a:extLst>
          </p:cNvPr>
          <p:cNvSpPr>
            <a:spLocks noGrp="1"/>
          </p:cNvSpPr>
          <p:nvPr/>
        </p:nvSpPr>
        <p:spPr>
          <a:xfrm>
            <a:off x="8998458" y="3668789"/>
            <a:ext cx="323850" cy="323850"/>
          </a:xfrm>
          <a:prstGeom prst="rect">
            <a:avLst/>
          </a:prstGeom>
          <a:solidFill>
            <a:srgbClr val="2B0A16"/>
          </a:solidFill>
          <a:ln w="9525">
            <a:solidFill>
              <a:srgbClr val="E8DCE0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4305371-EA84-79DE-53C6-1C5C42766D69}"/>
              </a:ext>
            </a:extLst>
          </p:cNvPr>
          <p:cNvSpPr>
            <a:spLocks noGrp="1"/>
          </p:cNvSpPr>
          <p:nvPr/>
        </p:nvSpPr>
        <p:spPr>
          <a:xfrm>
            <a:off x="9341358" y="3668789"/>
            <a:ext cx="323850" cy="3238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E8DCE0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1987A165-FE88-16D5-E353-D265647DE44D}"/>
              </a:ext>
            </a:extLst>
          </p:cNvPr>
          <p:cNvSpPr>
            <a:spLocks noGrp="1"/>
          </p:cNvSpPr>
          <p:nvPr/>
        </p:nvSpPr>
        <p:spPr>
          <a:xfrm>
            <a:off x="9684258" y="3668789"/>
            <a:ext cx="323850" cy="3238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E8DCE0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3DBD8B26-AB95-A5BD-D277-EDC0A635B01C}"/>
              </a:ext>
            </a:extLst>
          </p:cNvPr>
          <p:cNvSpPr>
            <a:spLocks noGrp="1"/>
          </p:cNvSpPr>
          <p:nvPr/>
        </p:nvSpPr>
        <p:spPr>
          <a:xfrm>
            <a:off x="10027158" y="3668789"/>
            <a:ext cx="323850" cy="3238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E8DCE0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276A2608-9A59-D978-09F8-FAA2E2C6CFD5}"/>
              </a:ext>
            </a:extLst>
          </p:cNvPr>
          <p:cNvSpPr>
            <a:spLocks noGrp="1"/>
          </p:cNvSpPr>
          <p:nvPr/>
        </p:nvSpPr>
        <p:spPr>
          <a:xfrm>
            <a:off x="10370058" y="3668789"/>
            <a:ext cx="323850" cy="3238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E8DCE0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610ED6DB-ABC4-6EC2-2D8A-982DF6083AE7}"/>
              </a:ext>
            </a:extLst>
          </p:cNvPr>
          <p:cNvSpPr>
            <a:spLocks noGrp="1"/>
          </p:cNvSpPr>
          <p:nvPr/>
        </p:nvSpPr>
        <p:spPr>
          <a:xfrm>
            <a:off x="10712958" y="3668789"/>
            <a:ext cx="323850" cy="3238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E8DCE0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50E3B7D1-D2EA-A25D-ADB7-8075CDFAE431}"/>
              </a:ext>
            </a:extLst>
          </p:cNvPr>
          <p:cNvSpPr>
            <a:spLocks noGrp="1"/>
          </p:cNvSpPr>
          <p:nvPr/>
        </p:nvSpPr>
        <p:spPr>
          <a:xfrm>
            <a:off x="7969758" y="4011689"/>
            <a:ext cx="323850" cy="3238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E8DCE0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EB17074D-39D4-429E-8157-2FD2754F37B7}"/>
              </a:ext>
            </a:extLst>
          </p:cNvPr>
          <p:cNvSpPr>
            <a:spLocks noGrp="1"/>
          </p:cNvSpPr>
          <p:nvPr/>
        </p:nvSpPr>
        <p:spPr>
          <a:xfrm>
            <a:off x="8312658" y="4011689"/>
            <a:ext cx="323850" cy="323850"/>
          </a:xfrm>
          <a:prstGeom prst="rect">
            <a:avLst/>
          </a:prstGeom>
          <a:solidFill>
            <a:srgbClr val="F4D655"/>
          </a:solidFill>
          <a:ln w="9525">
            <a:solidFill>
              <a:srgbClr val="E8DCE0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16BB7ABD-CA48-FCE8-1848-F4B31557C160}"/>
              </a:ext>
            </a:extLst>
          </p:cNvPr>
          <p:cNvSpPr>
            <a:spLocks noGrp="1"/>
          </p:cNvSpPr>
          <p:nvPr/>
        </p:nvSpPr>
        <p:spPr>
          <a:xfrm>
            <a:off x="8655558" y="4011689"/>
            <a:ext cx="323850" cy="3238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E8DCE0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A791152C-A2B7-6992-5A10-83BF0867E204}"/>
              </a:ext>
            </a:extLst>
          </p:cNvPr>
          <p:cNvSpPr>
            <a:spLocks noGrp="1"/>
          </p:cNvSpPr>
          <p:nvPr/>
        </p:nvSpPr>
        <p:spPr>
          <a:xfrm>
            <a:off x="8998458" y="4011689"/>
            <a:ext cx="323850" cy="323850"/>
          </a:xfrm>
          <a:prstGeom prst="rect">
            <a:avLst/>
          </a:prstGeom>
          <a:solidFill>
            <a:srgbClr val="2B0A16"/>
          </a:solidFill>
          <a:ln w="9525">
            <a:solidFill>
              <a:srgbClr val="E8DCE0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B9227C89-8C55-C6BA-DADE-083A2E206303}"/>
              </a:ext>
            </a:extLst>
          </p:cNvPr>
          <p:cNvSpPr>
            <a:spLocks noGrp="1"/>
          </p:cNvSpPr>
          <p:nvPr/>
        </p:nvSpPr>
        <p:spPr>
          <a:xfrm>
            <a:off x="9341358" y="4011689"/>
            <a:ext cx="323850" cy="3238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E8DCE0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AD46C9E8-BAD1-474D-3302-A3032F4A2B27}"/>
              </a:ext>
            </a:extLst>
          </p:cNvPr>
          <p:cNvSpPr>
            <a:spLocks noGrp="1"/>
          </p:cNvSpPr>
          <p:nvPr/>
        </p:nvSpPr>
        <p:spPr>
          <a:xfrm>
            <a:off x="9684258" y="4011689"/>
            <a:ext cx="323850" cy="3238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E8DCE0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30BB9AED-8BD2-2771-09CE-3F3721D606E9}"/>
              </a:ext>
            </a:extLst>
          </p:cNvPr>
          <p:cNvSpPr>
            <a:spLocks noGrp="1"/>
          </p:cNvSpPr>
          <p:nvPr/>
        </p:nvSpPr>
        <p:spPr>
          <a:xfrm>
            <a:off x="10027158" y="4011689"/>
            <a:ext cx="323850" cy="3238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E8DCE0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81522E01-1D4F-E52E-6FA3-8F666B27DB39}"/>
              </a:ext>
            </a:extLst>
          </p:cNvPr>
          <p:cNvSpPr>
            <a:spLocks noGrp="1"/>
          </p:cNvSpPr>
          <p:nvPr/>
        </p:nvSpPr>
        <p:spPr>
          <a:xfrm>
            <a:off x="10370058" y="4011689"/>
            <a:ext cx="323850" cy="3238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E8DCE0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5921F633-E97F-2751-5A9F-1212D0DB4EB0}"/>
              </a:ext>
            </a:extLst>
          </p:cNvPr>
          <p:cNvSpPr>
            <a:spLocks noGrp="1"/>
          </p:cNvSpPr>
          <p:nvPr/>
        </p:nvSpPr>
        <p:spPr>
          <a:xfrm>
            <a:off x="10712958" y="4011689"/>
            <a:ext cx="323850" cy="3238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E8DCE0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6D74DB8C-1175-A1C9-99D9-1D17AC74AC99}"/>
              </a:ext>
            </a:extLst>
          </p:cNvPr>
          <p:cNvSpPr>
            <a:spLocks noGrp="1"/>
          </p:cNvSpPr>
          <p:nvPr/>
        </p:nvSpPr>
        <p:spPr>
          <a:xfrm>
            <a:off x="7969758" y="4354589"/>
            <a:ext cx="323850" cy="3238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E8DCE0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6F60955A-605A-DCB9-C291-9EF7FC507BF4}"/>
              </a:ext>
            </a:extLst>
          </p:cNvPr>
          <p:cNvSpPr>
            <a:spLocks noGrp="1"/>
          </p:cNvSpPr>
          <p:nvPr/>
        </p:nvSpPr>
        <p:spPr>
          <a:xfrm>
            <a:off x="8312658" y="4354589"/>
            <a:ext cx="323850" cy="323850"/>
          </a:xfrm>
          <a:prstGeom prst="rect">
            <a:avLst/>
          </a:prstGeom>
          <a:solidFill>
            <a:srgbClr val="F4D655"/>
          </a:solidFill>
          <a:ln w="9525">
            <a:solidFill>
              <a:srgbClr val="E8DCE0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E19568B4-2B36-DC86-F437-970EE6CE42F8}"/>
              </a:ext>
            </a:extLst>
          </p:cNvPr>
          <p:cNvSpPr>
            <a:spLocks noGrp="1"/>
          </p:cNvSpPr>
          <p:nvPr/>
        </p:nvSpPr>
        <p:spPr>
          <a:xfrm>
            <a:off x="8655558" y="4354589"/>
            <a:ext cx="323850" cy="3238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E8DCE0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E8A6A410-B042-0C0E-248E-80FBB87E517F}"/>
              </a:ext>
            </a:extLst>
          </p:cNvPr>
          <p:cNvSpPr>
            <a:spLocks noGrp="1"/>
          </p:cNvSpPr>
          <p:nvPr/>
        </p:nvSpPr>
        <p:spPr>
          <a:xfrm>
            <a:off x="8998458" y="4354589"/>
            <a:ext cx="323850" cy="323850"/>
          </a:xfrm>
          <a:prstGeom prst="rect">
            <a:avLst/>
          </a:prstGeom>
          <a:solidFill>
            <a:srgbClr val="2B0A16"/>
          </a:solidFill>
          <a:ln w="9525">
            <a:solidFill>
              <a:srgbClr val="E8DCE0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E31B48C2-AB56-784B-FB2B-5115891BD8D2}"/>
              </a:ext>
            </a:extLst>
          </p:cNvPr>
          <p:cNvSpPr>
            <a:spLocks noGrp="1"/>
          </p:cNvSpPr>
          <p:nvPr/>
        </p:nvSpPr>
        <p:spPr>
          <a:xfrm>
            <a:off x="9341358" y="4354589"/>
            <a:ext cx="323850" cy="323850"/>
          </a:xfrm>
          <a:prstGeom prst="rect">
            <a:avLst/>
          </a:prstGeom>
          <a:solidFill>
            <a:srgbClr val="2B0A16"/>
          </a:solidFill>
          <a:ln w="9525">
            <a:solidFill>
              <a:srgbClr val="E8DCE0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4F60B40B-E7BB-05C6-EA24-B181F04606A9}"/>
              </a:ext>
            </a:extLst>
          </p:cNvPr>
          <p:cNvSpPr>
            <a:spLocks noGrp="1"/>
          </p:cNvSpPr>
          <p:nvPr/>
        </p:nvSpPr>
        <p:spPr>
          <a:xfrm>
            <a:off x="9684258" y="4354589"/>
            <a:ext cx="323850" cy="323850"/>
          </a:xfrm>
          <a:prstGeom prst="rect">
            <a:avLst/>
          </a:prstGeom>
          <a:solidFill>
            <a:srgbClr val="2B0A16"/>
          </a:solidFill>
          <a:ln w="9525">
            <a:solidFill>
              <a:srgbClr val="E8DCE0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F765B396-9DE8-CEAD-EC8C-8F09B2449528}"/>
              </a:ext>
            </a:extLst>
          </p:cNvPr>
          <p:cNvSpPr>
            <a:spLocks noGrp="1"/>
          </p:cNvSpPr>
          <p:nvPr/>
        </p:nvSpPr>
        <p:spPr>
          <a:xfrm>
            <a:off x="10027158" y="4354589"/>
            <a:ext cx="323850" cy="3238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E8DCE0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DC64C547-F353-36C4-B419-30870003393C}"/>
              </a:ext>
            </a:extLst>
          </p:cNvPr>
          <p:cNvSpPr>
            <a:spLocks noGrp="1"/>
          </p:cNvSpPr>
          <p:nvPr/>
        </p:nvSpPr>
        <p:spPr>
          <a:xfrm>
            <a:off x="10370058" y="4354589"/>
            <a:ext cx="3238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E8DCE0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3B17E37F-68BF-050F-1309-459AA6D28877}"/>
              </a:ext>
            </a:extLst>
          </p:cNvPr>
          <p:cNvSpPr>
            <a:spLocks noGrp="1"/>
          </p:cNvSpPr>
          <p:nvPr/>
        </p:nvSpPr>
        <p:spPr>
          <a:xfrm>
            <a:off x="10712958" y="4354589"/>
            <a:ext cx="3238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E8DCE0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319B6A07-DCB0-926B-3D04-55493EDBB867}"/>
              </a:ext>
            </a:extLst>
          </p:cNvPr>
          <p:cNvSpPr>
            <a:spLocks noGrp="1"/>
          </p:cNvSpPr>
          <p:nvPr/>
        </p:nvSpPr>
        <p:spPr>
          <a:xfrm>
            <a:off x="7969758" y="4697489"/>
            <a:ext cx="323850" cy="3238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E8DCE0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C20401E5-14BA-EB9D-E1B6-83DA01B1AE16}"/>
              </a:ext>
            </a:extLst>
          </p:cNvPr>
          <p:cNvSpPr>
            <a:spLocks noGrp="1"/>
          </p:cNvSpPr>
          <p:nvPr/>
        </p:nvSpPr>
        <p:spPr>
          <a:xfrm>
            <a:off x="8312658" y="4697489"/>
            <a:ext cx="323850" cy="323850"/>
          </a:xfrm>
          <a:prstGeom prst="rect">
            <a:avLst/>
          </a:prstGeom>
          <a:solidFill>
            <a:srgbClr val="F4D655"/>
          </a:solidFill>
          <a:ln w="9525">
            <a:solidFill>
              <a:srgbClr val="E8DCE0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C89C791E-3B28-491B-5C66-6109DEB3FBA5}"/>
              </a:ext>
            </a:extLst>
          </p:cNvPr>
          <p:cNvSpPr>
            <a:spLocks noGrp="1"/>
          </p:cNvSpPr>
          <p:nvPr/>
        </p:nvSpPr>
        <p:spPr>
          <a:xfrm>
            <a:off x="8655558" y="4697489"/>
            <a:ext cx="323850" cy="323850"/>
          </a:xfrm>
          <a:prstGeom prst="rect">
            <a:avLst/>
          </a:prstGeom>
          <a:solidFill>
            <a:srgbClr val="F4D655"/>
          </a:solidFill>
          <a:ln w="9525">
            <a:solidFill>
              <a:srgbClr val="E8DCE0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1DB5D24C-A67C-A8D4-3E59-2035C344F12B}"/>
              </a:ext>
            </a:extLst>
          </p:cNvPr>
          <p:cNvSpPr>
            <a:spLocks noGrp="1"/>
          </p:cNvSpPr>
          <p:nvPr/>
        </p:nvSpPr>
        <p:spPr>
          <a:xfrm>
            <a:off x="8998458" y="4697489"/>
            <a:ext cx="323850" cy="323850"/>
          </a:xfrm>
          <a:prstGeom prst="rect">
            <a:avLst/>
          </a:prstGeom>
          <a:solidFill>
            <a:srgbClr val="F4D655"/>
          </a:solidFill>
          <a:ln w="9525">
            <a:solidFill>
              <a:srgbClr val="E8DCE0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A4616FF4-FC71-0789-A936-5388303E3A31}"/>
              </a:ext>
            </a:extLst>
          </p:cNvPr>
          <p:cNvSpPr>
            <a:spLocks noGrp="1"/>
          </p:cNvSpPr>
          <p:nvPr/>
        </p:nvSpPr>
        <p:spPr>
          <a:xfrm>
            <a:off x="9341358" y="4697489"/>
            <a:ext cx="323850" cy="323850"/>
          </a:xfrm>
          <a:prstGeom prst="rect">
            <a:avLst/>
          </a:prstGeom>
          <a:solidFill>
            <a:srgbClr val="F4D655"/>
          </a:solidFill>
          <a:ln w="9525">
            <a:solidFill>
              <a:srgbClr val="E8DCE0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7D3BC08C-8244-BE9D-55F4-D7A44C43076C}"/>
              </a:ext>
            </a:extLst>
          </p:cNvPr>
          <p:cNvSpPr>
            <a:spLocks noGrp="1"/>
          </p:cNvSpPr>
          <p:nvPr/>
        </p:nvSpPr>
        <p:spPr>
          <a:xfrm>
            <a:off x="9684258" y="4697489"/>
            <a:ext cx="323850" cy="323850"/>
          </a:xfrm>
          <a:prstGeom prst="rect">
            <a:avLst/>
          </a:prstGeom>
          <a:solidFill>
            <a:srgbClr val="F4D655"/>
          </a:solidFill>
          <a:ln w="9525">
            <a:solidFill>
              <a:srgbClr val="E8DCE0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A88AC466-EDBB-239E-C400-2AA4D82B0CCD}"/>
              </a:ext>
            </a:extLst>
          </p:cNvPr>
          <p:cNvSpPr>
            <a:spLocks noGrp="1"/>
          </p:cNvSpPr>
          <p:nvPr/>
        </p:nvSpPr>
        <p:spPr>
          <a:xfrm>
            <a:off x="10027158" y="4697489"/>
            <a:ext cx="3238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E8DCE0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3C60B4B6-EFC1-5065-0598-723144E76B7C}"/>
              </a:ext>
            </a:extLst>
          </p:cNvPr>
          <p:cNvSpPr>
            <a:spLocks noGrp="1"/>
          </p:cNvSpPr>
          <p:nvPr/>
        </p:nvSpPr>
        <p:spPr>
          <a:xfrm>
            <a:off x="10370058" y="4697489"/>
            <a:ext cx="3238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E8DCE0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EBED34C1-AD3C-5B6B-7D70-BDC9066D4AC6}"/>
              </a:ext>
            </a:extLst>
          </p:cNvPr>
          <p:cNvSpPr>
            <a:spLocks noGrp="1"/>
          </p:cNvSpPr>
          <p:nvPr/>
        </p:nvSpPr>
        <p:spPr>
          <a:xfrm>
            <a:off x="10712958" y="4697489"/>
            <a:ext cx="3238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E8DCE0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742A51E4-3186-02D8-E810-9D6E67D2A916}"/>
              </a:ext>
            </a:extLst>
          </p:cNvPr>
          <p:cNvSpPr>
            <a:spLocks noGrp="1"/>
          </p:cNvSpPr>
          <p:nvPr/>
        </p:nvSpPr>
        <p:spPr>
          <a:xfrm>
            <a:off x="7969758" y="5040389"/>
            <a:ext cx="323850" cy="3238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E8DCE0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7AD792B1-FFA7-34DD-51E2-7003F89629DC}"/>
              </a:ext>
            </a:extLst>
          </p:cNvPr>
          <p:cNvSpPr>
            <a:spLocks noGrp="1"/>
          </p:cNvSpPr>
          <p:nvPr/>
        </p:nvSpPr>
        <p:spPr>
          <a:xfrm>
            <a:off x="8312658" y="5040389"/>
            <a:ext cx="323850" cy="323850"/>
          </a:xfrm>
          <a:prstGeom prst="rect">
            <a:avLst/>
          </a:prstGeom>
          <a:solidFill>
            <a:srgbClr val="2B0A16"/>
          </a:solidFill>
          <a:ln w="9525">
            <a:solidFill>
              <a:srgbClr val="E8DCE0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1DCC8F60-5B80-E170-0C94-B8BD208BC4C4}"/>
              </a:ext>
            </a:extLst>
          </p:cNvPr>
          <p:cNvSpPr>
            <a:spLocks noGrp="1"/>
          </p:cNvSpPr>
          <p:nvPr/>
        </p:nvSpPr>
        <p:spPr>
          <a:xfrm>
            <a:off x="8655558" y="5040389"/>
            <a:ext cx="323850" cy="323850"/>
          </a:xfrm>
          <a:prstGeom prst="rect">
            <a:avLst/>
          </a:prstGeom>
          <a:solidFill>
            <a:srgbClr val="2B0A16"/>
          </a:solidFill>
          <a:ln w="9525">
            <a:solidFill>
              <a:srgbClr val="E8DCE0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CE14026D-D9ED-BEFC-135D-642CAAC59F2C}"/>
              </a:ext>
            </a:extLst>
          </p:cNvPr>
          <p:cNvSpPr>
            <a:spLocks noGrp="1"/>
          </p:cNvSpPr>
          <p:nvPr/>
        </p:nvSpPr>
        <p:spPr>
          <a:xfrm>
            <a:off x="8998458" y="5040389"/>
            <a:ext cx="323850" cy="323850"/>
          </a:xfrm>
          <a:prstGeom prst="rect">
            <a:avLst/>
          </a:prstGeom>
          <a:solidFill>
            <a:srgbClr val="2B0A16"/>
          </a:solidFill>
          <a:ln w="9525">
            <a:solidFill>
              <a:srgbClr val="E8DCE0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BF19A7F6-2CE8-9800-9EF6-437BDF1BF172}"/>
              </a:ext>
            </a:extLst>
          </p:cNvPr>
          <p:cNvSpPr>
            <a:spLocks noGrp="1"/>
          </p:cNvSpPr>
          <p:nvPr/>
        </p:nvSpPr>
        <p:spPr>
          <a:xfrm>
            <a:off x="9341358" y="5040389"/>
            <a:ext cx="323850" cy="3238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E8DCE0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305F88F8-B069-D6A6-9D72-43FA4513956C}"/>
              </a:ext>
            </a:extLst>
          </p:cNvPr>
          <p:cNvSpPr>
            <a:spLocks noGrp="1"/>
          </p:cNvSpPr>
          <p:nvPr/>
        </p:nvSpPr>
        <p:spPr>
          <a:xfrm>
            <a:off x="9684258" y="5040389"/>
            <a:ext cx="323850" cy="323850"/>
          </a:xfrm>
          <a:prstGeom prst="rect">
            <a:avLst/>
          </a:prstGeom>
          <a:solidFill>
            <a:srgbClr val="F4D655"/>
          </a:solidFill>
          <a:ln w="9525">
            <a:solidFill>
              <a:srgbClr val="E8DCE0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52EF6976-533A-2C52-4585-AA2299D539E9}"/>
              </a:ext>
            </a:extLst>
          </p:cNvPr>
          <p:cNvSpPr>
            <a:spLocks noGrp="1"/>
          </p:cNvSpPr>
          <p:nvPr/>
        </p:nvSpPr>
        <p:spPr>
          <a:xfrm>
            <a:off x="10027158" y="5040389"/>
            <a:ext cx="323850" cy="323850"/>
          </a:xfrm>
          <a:prstGeom prst="rect">
            <a:avLst/>
          </a:prstGeom>
          <a:solidFill>
            <a:srgbClr val="F4D655"/>
          </a:solidFill>
          <a:ln w="9525">
            <a:solidFill>
              <a:srgbClr val="E8DCE0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50E8F3D0-3C65-D364-4194-D028560D1671}"/>
              </a:ext>
            </a:extLst>
          </p:cNvPr>
          <p:cNvSpPr>
            <a:spLocks noGrp="1"/>
          </p:cNvSpPr>
          <p:nvPr/>
        </p:nvSpPr>
        <p:spPr>
          <a:xfrm>
            <a:off x="10370058" y="5040389"/>
            <a:ext cx="323850" cy="323850"/>
          </a:xfrm>
          <a:prstGeom prst="rect">
            <a:avLst/>
          </a:prstGeom>
          <a:solidFill>
            <a:srgbClr val="C2184A"/>
          </a:solidFill>
          <a:ln w="9525">
            <a:solidFill>
              <a:srgbClr val="E8DCE0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297E175D-3824-DD61-EB16-512474FAE48F}"/>
              </a:ext>
            </a:extLst>
          </p:cNvPr>
          <p:cNvSpPr>
            <a:spLocks noGrp="1"/>
          </p:cNvSpPr>
          <p:nvPr/>
        </p:nvSpPr>
        <p:spPr>
          <a:xfrm>
            <a:off x="10370058" y="5107064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F038B90C-34F3-56AB-60D7-3F76424B3483}"/>
              </a:ext>
            </a:extLst>
          </p:cNvPr>
          <p:cNvSpPr>
            <a:spLocks noGrp="1"/>
          </p:cNvSpPr>
          <p:nvPr/>
        </p:nvSpPr>
        <p:spPr>
          <a:xfrm>
            <a:off x="10712958" y="5040389"/>
            <a:ext cx="3238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E8DCE0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AB4C3027-839A-660A-8BE9-3D1314B2BAF1}"/>
              </a:ext>
            </a:extLst>
          </p:cNvPr>
          <p:cNvSpPr>
            <a:spLocks noGrp="1"/>
          </p:cNvSpPr>
          <p:nvPr/>
        </p:nvSpPr>
        <p:spPr>
          <a:xfrm>
            <a:off x="7969758" y="5383289"/>
            <a:ext cx="323850" cy="3238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E8DCE0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FF50E621-A548-DA4C-7737-14FE52AD7E74}"/>
              </a:ext>
            </a:extLst>
          </p:cNvPr>
          <p:cNvSpPr>
            <a:spLocks noGrp="1"/>
          </p:cNvSpPr>
          <p:nvPr/>
        </p:nvSpPr>
        <p:spPr>
          <a:xfrm>
            <a:off x="8312658" y="5383289"/>
            <a:ext cx="323850" cy="3238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E8DCE0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03064BDA-999C-050D-91C3-5EC4925360E7}"/>
              </a:ext>
            </a:extLst>
          </p:cNvPr>
          <p:cNvSpPr>
            <a:spLocks noGrp="1"/>
          </p:cNvSpPr>
          <p:nvPr/>
        </p:nvSpPr>
        <p:spPr>
          <a:xfrm>
            <a:off x="8655558" y="5383289"/>
            <a:ext cx="323850" cy="3238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E8DCE0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1B7495AD-87B3-CD4C-A828-095C53C8FC34}"/>
              </a:ext>
            </a:extLst>
          </p:cNvPr>
          <p:cNvSpPr>
            <a:spLocks noGrp="1"/>
          </p:cNvSpPr>
          <p:nvPr/>
        </p:nvSpPr>
        <p:spPr>
          <a:xfrm>
            <a:off x="8998458" y="5383289"/>
            <a:ext cx="323850" cy="3238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E8DCE0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A535D32D-CDA7-09EF-18D8-183869BB3922}"/>
              </a:ext>
            </a:extLst>
          </p:cNvPr>
          <p:cNvSpPr>
            <a:spLocks noGrp="1"/>
          </p:cNvSpPr>
          <p:nvPr/>
        </p:nvSpPr>
        <p:spPr>
          <a:xfrm>
            <a:off x="9341358" y="5383289"/>
            <a:ext cx="323850" cy="3238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E8DCE0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3A6D6AC5-7472-7C36-F698-D23E23082D6E}"/>
              </a:ext>
            </a:extLst>
          </p:cNvPr>
          <p:cNvSpPr>
            <a:spLocks noGrp="1"/>
          </p:cNvSpPr>
          <p:nvPr/>
        </p:nvSpPr>
        <p:spPr>
          <a:xfrm>
            <a:off x="9684258" y="5383289"/>
            <a:ext cx="323850" cy="3238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E8DCE0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0C08D368-83E5-DCA7-269D-CBBA10B27E11}"/>
              </a:ext>
            </a:extLst>
          </p:cNvPr>
          <p:cNvSpPr>
            <a:spLocks noGrp="1"/>
          </p:cNvSpPr>
          <p:nvPr/>
        </p:nvSpPr>
        <p:spPr>
          <a:xfrm>
            <a:off x="10027158" y="5383289"/>
            <a:ext cx="323850" cy="3238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E8DCE0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2D1184C0-2C8A-6791-D6F0-714F3EE8741F}"/>
              </a:ext>
            </a:extLst>
          </p:cNvPr>
          <p:cNvSpPr>
            <a:spLocks noGrp="1"/>
          </p:cNvSpPr>
          <p:nvPr/>
        </p:nvSpPr>
        <p:spPr>
          <a:xfrm>
            <a:off x="10370058" y="5383289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rgbClr val="E8DCE0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5B68B6C7-BCD5-1BA4-3C7F-5094F1A87100}"/>
              </a:ext>
            </a:extLst>
          </p:cNvPr>
          <p:cNvSpPr>
            <a:spLocks noGrp="1"/>
          </p:cNvSpPr>
          <p:nvPr/>
        </p:nvSpPr>
        <p:spPr>
          <a:xfrm>
            <a:off x="10712958" y="5383289"/>
            <a:ext cx="3238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E8DCE0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8804482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D73D8F-DCBD-ED27-E778-F1B7E5566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99C41D8-9F0F-DE8F-5B60-F0C83F46FE9E}"/>
              </a:ext>
            </a:extLst>
          </p:cNvPr>
          <p:cNvSpPr/>
          <p:nvPr/>
        </p:nvSpPr>
        <p:spPr>
          <a:xfrm>
            <a:off x="0" y="5128751"/>
            <a:ext cx="12192000" cy="18582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24A859-EB25-FD9A-DC54-D83BDECA28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211763"/>
          </a:xfrm>
        </p:spPr>
        <p:txBody>
          <a:bodyPr>
            <a:normAutofit/>
          </a:bodyPr>
          <a:lstStyle/>
          <a:p>
            <a:pPr algn="l"/>
            <a:r>
              <a:rPr lang="pl-PL" sz="3600" dirty="0"/>
              <a:t>Możliwe ulepszenia</a:t>
            </a:r>
            <a:endParaRPr lang="lt-LT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743D4F-FE3A-3BD8-3DB9-547617A617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30378"/>
            <a:ext cx="7788442" cy="2827421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pl-PL" sz="1800" dirty="0"/>
              <a:t>W przyszłości możno dodać pełny A*, gdyż jego część jest w programie.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pl-PL" sz="1800" dirty="0"/>
              <a:t>Węzły o różnych wagach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pl-PL" sz="1800" dirty="0"/>
              <a:t>Sortowanie przez HeapSort.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AC87D4-7B70-F034-ECDC-479035E8A5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8229" y="3171311"/>
            <a:ext cx="6897063" cy="3686689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4286DF-7B7F-374B-916D-1C3208042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492875"/>
            <a:ext cx="2743200" cy="365125"/>
          </a:xfrm>
        </p:spPr>
        <p:txBody>
          <a:bodyPr/>
          <a:lstStyle/>
          <a:p>
            <a:fld id="{FA746CF2-B7B4-41BF-BF00-F9B5AB208BC6}" type="slidenum">
              <a:rPr lang="lt-LT" smtClean="0"/>
              <a:t>8</a:t>
            </a:fld>
            <a:endParaRPr lang="lt-LT" dirty="0"/>
          </a:p>
        </p:txBody>
      </p:sp>
    </p:spTree>
    <p:extLst>
      <p:ext uri="{BB962C8B-B14F-4D97-AF65-F5344CB8AC3E}">
        <p14:creationId xmlns:p14="http://schemas.microsoft.com/office/powerpoint/2010/main" val="29971674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8CD41C-F927-1517-C763-0F7F90A8C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9AC03-15F7-0FC4-FBBF-FFEB7C2256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211763"/>
          </a:xfrm>
        </p:spPr>
        <p:txBody>
          <a:bodyPr>
            <a:normAutofit/>
          </a:bodyPr>
          <a:lstStyle/>
          <a:p>
            <a:pPr algn="l"/>
            <a:r>
              <a:rPr lang="en-US" sz="3600" dirty="0"/>
              <a:t>Zako</a:t>
            </a:r>
            <a:r>
              <a:rPr lang="pl-PL" sz="3600" dirty="0"/>
              <a:t>ńczenie</a:t>
            </a:r>
            <a:endParaRPr lang="lt-LT" sz="3600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1398649C-C40A-D19A-31FA-FE8078A4EC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66474"/>
            <a:ext cx="9144000" cy="2791326"/>
          </a:xfrm>
        </p:spPr>
        <p:txBody>
          <a:bodyPr>
            <a:normAutofit/>
          </a:bodyPr>
          <a:lstStyle/>
          <a:p>
            <a:pPr algn="l"/>
            <a:r>
              <a:rPr lang="pl-PL" sz="1800" dirty="0"/>
              <a:t>Program jest zrobiony tak, żeby nawet słaby progragramista był w stanie zrozumieć jego działanie, gdyż program nie używa ciężkich technologii.</a:t>
            </a:r>
          </a:p>
          <a:p>
            <a:pPr algn="l"/>
            <a:endParaRPr lang="lt-LT" sz="18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24D33E-1237-FB70-45E2-2B24F2B87DF0}"/>
              </a:ext>
            </a:extLst>
          </p:cNvPr>
          <p:cNvSpPr/>
          <p:nvPr/>
        </p:nvSpPr>
        <p:spPr>
          <a:xfrm>
            <a:off x="0" y="5128751"/>
            <a:ext cx="12192000" cy="18582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6060D3-566F-5CC0-26C3-8BFF8A016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492875"/>
            <a:ext cx="2743200" cy="365125"/>
          </a:xfrm>
        </p:spPr>
        <p:txBody>
          <a:bodyPr/>
          <a:lstStyle/>
          <a:p>
            <a:fld id="{FA746CF2-B7B4-41BF-BF00-F9B5AB208BC6}" type="slidenum">
              <a:rPr lang="lt-LT" smtClean="0"/>
              <a:t>9</a:t>
            </a:fld>
            <a:endParaRPr lang="lt-LT" dirty="0"/>
          </a:p>
        </p:txBody>
      </p:sp>
    </p:spTree>
    <p:extLst>
      <p:ext uri="{BB962C8B-B14F-4D97-AF65-F5344CB8AC3E}">
        <p14:creationId xmlns:p14="http://schemas.microsoft.com/office/powerpoint/2010/main" val="40151819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D7BD25-36C3-1EEB-D25F-767516AB0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5CF9C-E9C3-613E-223F-AEFE36E805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678112"/>
          </a:xfrm>
        </p:spPr>
        <p:txBody>
          <a:bodyPr>
            <a:normAutofit/>
          </a:bodyPr>
          <a:lstStyle/>
          <a:p>
            <a:r>
              <a:rPr lang="pl-PL" sz="8800" dirty="0"/>
              <a:t>Q&amp;A</a:t>
            </a:r>
            <a:endParaRPr lang="lt-LT" sz="880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EED35E6-A3E8-5E2B-B892-DE948DFCB8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E80E30-F6ED-FF83-9400-8112A90AFBAE}"/>
              </a:ext>
            </a:extLst>
          </p:cNvPr>
          <p:cNvSpPr/>
          <p:nvPr/>
        </p:nvSpPr>
        <p:spPr>
          <a:xfrm>
            <a:off x="0" y="5128751"/>
            <a:ext cx="12192000" cy="18582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E044AB-9B8D-2918-1B45-0B1C649F2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492875"/>
            <a:ext cx="2743200" cy="365125"/>
          </a:xfrm>
        </p:spPr>
        <p:txBody>
          <a:bodyPr/>
          <a:lstStyle/>
          <a:p>
            <a:fld id="{FA746CF2-B7B4-41BF-BF00-F9B5AB208BC6}" type="slidenum">
              <a:rPr lang="lt-LT" smtClean="0"/>
              <a:t>10</a:t>
            </a:fld>
            <a:endParaRPr lang="lt-LT" dirty="0"/>
          </a:p>
        </p:txBody>
      </p:sp>
    </p:spTree>
    <p:extLst>
      <p:ext uri="{BB962C8B-B14F-4D97-AF65-F5344CB8AC3E}">
        <p14:creationId xmlns:p14="http://schemas.microsoft.com/office/powerpoint/2010/main" val="42342679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504</TotalTime>
  <Words>327</Words>
  <Application>Microsoft Office PowerPoint</Application>
  <PresentationFormat>Widescreen</PresentationFormat>
  <Paragraphs>53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Cascadia Code</vt:lpstr>
      <vt:lpstr>Office Theme</vt:lpstr>
      <vt:lpstr>Wyszukiwanie ścieżki za pomocą algorytmu Dijkstry</vt:lpstr>
      <vt:lpstr>Wprowadzenie</vt:lpstr>
      <vt:lpstr>Teoria algorytmu</vt:lpstr>
      <vt:lpstr>Opis problemu</vt:lpstr>
      <vt:lpstr>Implementacja</vt:lpstr>
      <vt:lpstr>Funkcjonalność</vt:lpstr>
      <vt:lpstr>PowerPoint Presentation</vt:lpstr>
      <vt:lpstr>Możliwe ulepszenia</vt:lpstr>
      <vt:lpstr>Zakończenie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Subatovič Daniel</dc:creator>
  <cp:lastModifiedBy>Daniel Subatovič</cp:lastModifiedBy>
  <cp:revision>88</cp:revision>
  <dcterms:created xsi:type="dcterms:W3CDTF">2025-11-18T10:25:17Z</dcterms:created>
  <dcterms:modified xsi:type="dcterms:W3CDTF">2026-05-29T12:30:44Z</dcterms:modified>
</cp:coreProperties>
</file>