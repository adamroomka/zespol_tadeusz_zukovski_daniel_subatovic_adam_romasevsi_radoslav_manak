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b995c5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0b995c5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0b995c53a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0b995c53a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b995c53a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b995c53a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0b995c53a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0b995c53a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b995c53a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b995c53a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0b995c53a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0b995c53a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0b995c53a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0b995c53a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0b995c53a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0b995c53a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0b995c53a_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0b995c53a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0b995c53a_2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0b995c53a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b995c53a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b995c53a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0b995c53a_2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0b995c53a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0b995c53a_2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0b995c53a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2e68ad9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2e68ad9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n.wikipedia.org/wiki/World_Wide_Web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910125" y="1258575"/>
            <a:ext cx="7317300" cy="12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00">
                <a:solidFill>
                  <a:srgbClr val="98002E"/>
                </a:solidFill>
              </a:rPr>
              <a:t>Rozwój protokołu </a:t>
            </a:r>
            <a:endParaRPr sz="4000">
              <a:solidFill>
                <a:srgbClr val="98002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98002E"/>
                </a:solidFill>
              </a:rPr>
              <a:t>HTTP/3 i QUIC</a:t>
            </a:r>
            <a:endParaRPr sz="4000">
              <a:solidFill>
                <a:srgbClr val="98002E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59200" y="3231800"/>
            <a:ext cx="4935900" cy="9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040"/>
              <a:t>Adam Romaševski</a:t>
            </a:r>
            <a:endParaRPr sz="2040"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640"/>
              <a:t>Informatyka II rok</a:t>
            </a:r>
            <a:endParaRPr sz="1640"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640"/>
              <a:t>2025.12.18</a:t>
            </a:r>
            <a:endParaRPr sz="1640"/>
          </a:p>
        </p:txBody>
      </p:sp>
      <p:sp>
        <p:nvSpPr>
          <p:cNvPr id="56" name="Google Shape;56;p13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1/14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910125" y="1144150"/>
            <a:ext cx="7317300" cy="6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4480">
                <a:solidFill>
                  <a:srgbClr val="98002E"/>
                </a:solidFill>
              </a:rPr>
              <a:t>H</a:t>
            </a:r>
            <a:r>
              <a:rPr lang="en" sz="4480">
                <a:solidFill>
                  <a:srgbClr val="98002E"/>
                </a:solidFill>
              </a:rPr>
              <a:t>yper </a:t>
            </a:r>
            <a:r>
              <a:rPr b="1" lang="en" sz="4480">
                <a:solidFill>
                  <a:srgbClr val="98002E"/>
                </a:solidFill>
              </a:rPr>
              <a:t>T</a:t>
            </a:r>
            <a:r>
              <a:rPr lang="en" sz="4480">
                <a:solidFill>
                  <a:srgbClr val="98002E"/>
                </a:solidFill>
              </a:rPr>
              <a:t>ext </a:t>
            </a:r>
            <a:r>
              <a:rPr b="1" lang="en" sz="4480">
                <a:solidFill>
                  <a:srgbClr val="98002E"/>
                </a:solidFill>
              </a:rPr>
              <a:t>T</a:t>
            </a:r>
            <a:r>
              <a:rPr lang="en" sz="4480">
                <a:solidFill>
                  <a:srgbClr val="98002E"/>
                </a:solidFill>
              </a:rPr>
              <a:t>ransfer </a:t>
            </a:r>
            <a:r>
              <a:rPr b="1" lang="en" sz="4480">
                <a:solidFill>
                  <a:srgbClr val="98002E"/>
                </a:solidFill>
              </a:rPr>
              <a:t>P</a:t>
            </a:r>
            <a:r>
              <a:rPr lang="en" sz="4480">
                <a:solidFill>
                  <a:srgbClr val="98002E"/>
                </a:solidFill>
              </a:rPr>
              <a:t>rotocol</a:t>
            </a:r>
            <a:endParaRPr sz="4480">
              <a:solidFill>
                <a:srgbClr val="98002E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910225" y="2286275"/>
            <a:ext cx="73173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040"/>
              <a:t>HTTP to protokół, który definiuje zasady wymiany żądań i odpowiedzi między klientem a serwerem w modelu </a:t>
            </a:r>
            <a:r>
              <a:rPr i="1" lang="en" sz="2040"/>
              <a:t>request–response</a:t>
            </a:r>
            <a:r>
              <a:rPr lang="en" sz="2040"/>
              <a:t>.</a:t>
            </a:r>
            <a:endParaRPr sz="2040"/>
          </a:p>
        </p:txBody>
      </p:sp>
      <p:sp>
        <p:nvSpPr>
          <p:cNvPr id="63" name="Google Shape;63;p14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2</a:t>
            </a:r>
            <a:r>
              <a:rPr b="1" lang="en" sz="1800">
                <a:solidFill>
                  <a:schemeClr val="lt1"/>
                </a:solidFill>
              </a:rPr>
              <a:t>/14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922650" y="3717650"/>
            <a:ext cx="7298700" cy="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" sz="2000">
                <a:solidFill>
                  <a:schemeClr val="dk1"/>
                </a:solidFill>
              </a:rPr>
              <a:t>Bez HTTP internet byłby jak restauracja bez kelnera – siedzisz głodny i machasz ręką do kuchni.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9" name="Google Shape;69;p15" title="1_n_yaDgXPvZN0IPvWfKni5Q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4788" y="1845719"/>
            <a:ext cx="4274426" cy="1964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186732" y="1742663"/>
            <a:ext cx="6816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25" lIns="74825" spcFirstLastPara="1" rIns="74825" wrap="square" tIns="74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473">
                <a:solidFill>
                  <a:schemeClr val="dk2"/>
                </a:solidFill>
                <a:highlight>
                  <a:schemeClr val="lt1"/>
                </a:highlight>
              </a:rPr>
            </a:br>
            <a:r>
              <a:rPr lang="en" sz="1473">
                <a:solidFill>
                  <a:schemeClr val="dk2"/>
                </a:solidFill>
                <a:highlight>
                  <a:schemeClr val="lt1"/>
                </a:highlight>
              </a:rPr>
              <a:t>HTTP</a:t>
            </a:r>
            <a:endParaRPr sz="1473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4152375" y="3391250"/>
            <a:ext cx="832800" cy="32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2510025" y="2731175"/>
            <a:ext cx="1020300" cy="28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2687036" y="2642073"/>
            <a:ext cx="843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25" lIns="74825" spcFirstLastPara="1" rIns="74825" wrap="square" tIns="74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73">
                <a:solidFill>
                  <a:schemeClr val="dk2"/>
                </a:solidFill>
              </a:rPr>
              <a:t>Klient</a:t>
            </a:r>
            <a:endParaRPr sz="1473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452625" y="2670275"/>
            <a:ext cx="1154100" cy="34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5694749" y="2655948"/>
            <a:ext cx="8433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25" lIns="74825" spcFirstLastPara="1" rIns="74825" wrap="square" tIns="74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73">
                <a:solidFill>
                  <a:schemeClr val="dk2"/>
                </a:solidFill>
              </a:rPr>
              <a:t>Server</a:t>
            </a:r>
            <a:endParaRPr sz="1473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3</a:t>
            </a:r>
            <a:r>
              <a:rPr b="1" lang="en" sz="1800">
                <a:solidFill>
                  <a:schemeClr val="lt1"/>
                </a:solidFill>
              </a:rPr>
              <a:t>/14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7" name="Google Shape;77;p15"/>
          <p:cNvSpPr txBox="1"/>
          <p:nvPr>
            <p:ph type="ctrTitle"/>
          </p:nvPr>
        </p:nvSpPr>
        <p:spPr>
          <a:xfrm>
            <a:off x="910125" y="1144150"/>
            <a:ext cx="7317300" cy="6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4480">
                <a:solidFill>
                  <a:srgbClr val="98002E"/>
                </a:solidFill>
              </a:rPr>
              <a:t>Metafora działania protokołu</a:t>
            </a:r>
            <a:endParaRPr sz="4480">
              <a:solidFill>
                <a:srgbClr val="98002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ctrTitle"/>
          </p:nvPr>
        </p:nvSpPr>
        <p:spPr>
          <a:xfrm>
            <a:off x="656400" y="920525"/>
            <a:ext cx="7689900" cy="90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>
                <a:solidFill>
                  <a:srgbClr val="98002E"/>
                </a:solidFill>
              </a:rPr>
              <a:t>Powstanie ARPANET</a:t>
            </a:r>
            <a:endParaRPr sz="4480">
              <a:solidFill>
                <a:srgbClr val="98002E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4/14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84" name="Google Shape;84;p16" title="Gemini_Generated_Image_vjbs1tvjbs1tvjb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625" y="2020650"/>
            <a:ext cx="4267050" cy="23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909600" y="2066863"/>
            <a:ext cx="3662400" cy="2327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dk1"/>
                </a:solidFill>
              </a:rPr>
              <a:t>W 1969 roku uruchomiono ARPANET – pierwszą sieć komputerową.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909600" y="2066875"/>
            <a:ext cx="3771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29 października wysłano pierwszą wiadomość między komputerami na Uniwersytecie Kalifornijskim (UCLA) a Instytutem Badawczym Stanforda (SRI).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927750" y="2066875"/>
            <a:ext cx="3662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A pierwsza “LO”.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Około godziny później, po naprawieniu błędu „LOGIN”.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909600" y="2066875"/>
            <a:ext cx="3662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Po roku (1970 r.) zostały opracowane protokoły TCP/IP ale oficjalne przyjęcie wydarzyło się zaledwie 13 lat później.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" type="subTitle"/>
          </p:nvPr>
        </p:nvSpPr>
        <p:spPr>
          <a:xfrm>
            <a:off x="910200" y="2241150"/>
            <a:ext cx="7316100" cy="21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dk1"/>
                </a:solidFill>
              </a:rPr>
              <a:t>W 1983 roku większość ludzi uważa za rok narodzin internetu, ponieważ internet przestał być tylko dla naukowców.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dk1"/>
                </a:solidFill>
              </a:rPr>
              <a:t>Równolegle rozwój internetu został rozwinięte nowe protokoły przesyłania danych: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FTP (</a:t>
            </a:r>
            <a:r>
              <a:rPr i="1" lang="en" sz="1100">
                <a:solidFill>
                  <a:schemeClr val="dk1"/>
                </a:solidFill>
              </a:rPr>
              <a:t>File Transfer Protocol</a:t>
            </a:r>
            <a:r>
              <a:rPr lang="en" sz="1100">
                <a:solidFill>
                  <a:schemeClr val="dk1"/>
                </a:solidFill>
              </a:rPr>
              <a:t>);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SMTP (</a:t>
            </a:r>
            <a:r>
              <a:rPr i="1" lang="en" sz="1100">
                <a:solidFill>
                  <a:schemeClr val="dk1"/>
                </a:solidFill>
              </a:rPr>
              <a:t>Simple Mail Transfer Protocol</a:t>
            </a:r>
            <a:r>
              <a:rPr lang="en" sz="1100">
                <a:solidFill>
                  <a:schemeClr val="dk1"/>
                </a:solidFill>
              </a:rPr>
              <a:t>);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POP (</a:t>
            </a:r>
            <a:r>
              <a:rPr i="1" lang="en" sz="1100">
                <a:solidFill>
                  <a:schemeClr val="dk1"/>
                </a:solidFill>
              </a:rPr>
              <a:t>Post Office Protocol</a:t>
            </a:r>
            <a:r>
              <a:rPr lang="en" sz="1100">
                <a:solidFill>
                  <a:schemeClr val="dk1"/>
                </a:solidFill>
              </a:rPr>
              <a:t>);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NNTP (</a:t>
            </a:r>
            <a:r>
              <a:rPr i="1" lang="en" sz="1100">
                <a:solidFill>
                  <a:schemeClr val="dk1"/>
                </a:solidFill>
              </a:rPr>
              <a:t>Network News Transfer Protocol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Niektóre z nich są nadal w użyciu.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4" name="Google Shape;94;p17"/>
          <p:cNvSpPr txBox="1"/>
          <p:nvPr>
            <p:ph type="ctrTitle"/>
          </p:nvPr>
        </p:nvSpPr>
        <p:spPr>
          <a:xfrm>
            <a:off x="656400" y="920525"/>
            <a:ext cx="7689900" cy="90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>
                <a:solidFill>
                  <a:srgbClr val="98002E"/>
                </a:solidFill>
              </a:rPr>
              <a:t>Narodziny internetu</a:t>
            </a:r>
            <a:endParaRPr sz="4480">
              <a:solidFill>
                <a:srgbClr val="98002E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5</a:t>
            </a:r>
            <a:r>
              <a:rPr b="1" lang="en" sz="1800">
                <a:solidFill>
                  <a:schemeClr val="lt1"/>
                </a:solidFill>
              </a:rPr>
              <a:t>/14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910725" y="1270850"/>
            <a:ext cx="3357000" cy="19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Tim Berners-Lee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 1989 roku zaproponował koncepcję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World Wide Web</a:t>
            </a:r>
            <a:r>
              <a:rPr lang="en" sz="1100">
                <a:solidFill>
                  <a:schemeClr val="dk1"/>
                </a:solidFill>
              </a:rPr>
              <a:t> (WWW).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On napisał dokument opisującą koncepcję WWW.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https://en.wikipedia.org/wiki/World_Wide_Web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7225" y="1202150"/>
            <a:ext cx="4458450" cy="320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6</a:t>
            </a:r>
            <a:r>
              <a:rPr b="1" lang="en" sz="1800">
                <a:solidFill>
                  <a:schemeClr val="lt1"/>
                </a:solidFill>
              </a:rPr>
              <a:t>/14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idx="1" type="subTitle"/>
          </p:nvPr>
        </p:nvSpPr>
        <p:spPr>
          <a:xfrm>
            <a:off x="910225" y="1825525"/>
            <a:ext cx="5529900" cy="17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1991 rok WWW staje się </a:t>
            </a:r>
            <a:r>
              <a:rPr lang="en" sz="1100">
                <a:solidFill>
                  <a:schemeClr val="dk1"/>
                </a:solidFill>
              </a:rPr>
              <a:t>publicznie </a:t>
            </a:r>
            <a:r>
              <a:rPr lang="en" sz="1100">
                <a:solidFill>
                  <a:schemeClr val="dk1"/>
                </a:solidFill>
              </a:rPr>
              <a:t>dostępnym i wychodzi pierwsza oficjalna wersja HTTP/0.9.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Obsługujący tylko metodę Get i przesyłanie dokumentów HTML.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Internet był prosty, mały i bez reklam.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Ponieważ ludzie chcieli czytać dokumenty nie dzwoniąc je do kolegi i pytać o format pliku a później modlić się żeby komputer nie zawiesił.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8" name="Google Shape;108;p19"/>
          <p:cNvSpPr txBox="1"/>
          <p:nvPr>
            <p:ph type="ctrTitle"/>
          </p:nvPr>
        </p:nvSpPr>
        <p:spPr>
          <a:xfrm>
            <a:off x="1298100" y="915325"/>
            <a:ext cx="6547800" cy="9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>
                <a:solidFill>
                  <a:srgbClr val="98002E"/>
                </a:solidFill>
              </a:rPr>
              <a:t>HTTP/0.9</a:t>
            </a:r>
            <a:endParaRPr sz="4480">
              <a:solidFill>
                <a:srgbClr val="98002E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650" y="1219350"/>
            <a:ext cx="1534775" cy="318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7/14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" type="subTitle"/>
          </p:nvPr>
        </p:nvSpPr>
        <p:spPr>
          <a:xfrm>
            <a:off x="910200" y="1898325"/>
            <a:ext cx="4568100" cy="20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HTTP/0.9 było tylko HTML, brak informacji co serwer wysyła.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internet rósł, i do 1996 roku wzrosło do 100k stron internetowych.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 1996 roku dodali HTTP/1.0, w tej wersji było bardzo dużo zmian.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Kody statusu </a:t>
            </a:r>
            <a:r>
              <a:rPr lang="en" sz="1100">
                <a:solidFill>
                  <a:schemeClr val="dk1"/>
                </a:solidFill>
              </a:rPr>
              <a:t>–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404 </a:t>
            </a:r>
            <a:r>
              <a:rPr b="1" i="1" lang="en" sz="1100">
                <a:solidFill>
                  <a:schemeClr val="dk1"/>
                </a:solidFill>
              </a:rPr>
              <a:t>not found</a:t>
            </a:r>
            <a:r>
              <a:rPr lang="en" sz="1100">
                <a:solidFill>
                  <a:schemeClr val="dk1"/>
                </a:solidFill>
              </a:rPr>
              <a:t>;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Oprócz metody </a:t>
            </a:r>
            <a:r>
              <a:rPr b="1" lang="en" sz="1100">
                <a:solidFill>
                  <a:schemeClr val="dk1"/>
                </a:solidFill>
              </a:rPr>
              <a:t>Get </a:t>
            </a:r>
            <a:r>
              <a:rPr lang="en" sz="1100">
                <a:solidFill>
                  <a:schemeClr val="dk1"/>
                </a:solidFill>
              </a:rPr>
              <a:t>pojawili się i drugie.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Stało możliwości wysyłać CSS i JavaScript, JPEG, PNG, GIF, MP3, xml, JSON, PDF i inne pliki.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6" name="Google Shape;116;p20"/>
          <p:cNvSpPr txBox="1"/>
          <p:nvPr>
            <p:ph type="ctrTitle"/>
          </p:nvPr>
        </p:nvSpPr>
        <p:spPr>
          <a:xfrm>
            <a:off x="1298100" y="915325"/>
            <a:ext cx="6547800" cy="9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>
                <a:solidFill>
                  <a:srgbClr val="98002E"/>
                </a:solidFill>
              </a:rPr>
              <a:t>HTTP/1.0</a:t>
            </a:r>
            <a:endParaRPr sz="4480">
              <a:solidFill>
                <a:srgbClr val="98002E"/>
              </a:solidFill>
            </a:endParaRPr>
          </a:p>
        </p:txBody>
      </p:sp>
      <p:pic>
        <p:nvPicPr>
          <p:cNvPr id="117" name="Google Shape;117;p20" title="mceu_94179173511722941265-66b1ff5091f7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1400" y="1854750"/>
            <a:ext cx="2553524" cy="1776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1250" y="2276150"/>
            <a:ext cx="1110475" cy="215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8/14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subTitle"/>
          </p:nvPr>
        </p:nvSpPr>
        <p:spPr>
          <a:xfrm>
            <a:off x="2284100" y="1825425"/>
            <a:ext cx="5942100" cy="22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 HTTP/1.0 został się główny problem, jak i w wersji HTTP/0.9: </a:t>
            </a:r>
            <a:r>
              <a:rPr b="1" lang="en" sz="1600">
                <a:solidFill>
                  <a:schemeClr val="dk1"/>
                </a:solidFill>
              </a:rPr>
              <a:t>Jedno połączenie = jedno żądanie i jedna odpowiedź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 1997 nowa wersja HTTP/1.1, pojawiła się </a:t>
            </a:r>
            <a:r>
              <a:rPr b="1" lang="en" sz="1600">
                <a:solidFill>
                  <a:schemeClr val="dk1"/>
                </a:solidFill>
              </a:rPr>
              <a:t>“</a:t>
            </a:r>
            <a:r>
              <a:rPr b="1" i="1" lang="en" sz="1600">
                <a:solidFill>
                  <a:schemeClr val="dk1"/>
                </a:solidFill>
              </a:rPr>
              <a:t>Keep alive</a:t>
            </a:r>
            <a:r>
              <a:rPr b="1" lang="en" sz="1600">
                <a:solidFill>
                  <a:schemeClr val="dk1"/>
                </a:solidFill>
              </a:rPr>
              <a:t>”</a:t>
            </a:r>
            <a:r>
              <a:rPr lang="en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Możliwe przesyłać dane po częściach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</a:t>
            </a:r>
            <a:r>
              <a:rPr b="1" lang="en" sz="1600">
                <a:solidFill>
                  <a:schemeClr val="dk1"/>
                </a:solidFill>
              </a:rPr>
              <a:t>Przekazywanie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i="1" lang="en" sz="1600">
                <a:solidFill>
                  <a:schemeClr val="dk1"/>
                </a:solidFill>
              </a:rPr>
              <a:t>Chunk</a:t>
            </a:r>
            <a:r>
              <a:rPr b="1" lang="en" sz="1600">
                <a:solidFill>
                  <a:schemeClr val="dk1"/>
                </a:solidFill>
              </a:rPr>
              <a:t>’ów</a:t>
            </a:r>
            <a:r>
              <a:rPr lang="en" sz="1600">
                <a:solidFill>
                  <a:schemeClr val="dk1"/>
                </a:solidFill>
              </a:rPr>
              <a:t>). W przykładzie </a:t>
            </a:r>
            <a:r>
              <a:rPr b="1" lang="en" sz="1600">
                <a:solidFill>
                  <a:schemeClr val="dk1"/>
                </a:solidFill>
              </a:rPr>
              <a:t>YouTube</a:t>
            </a:r>
            <a:r>
              <a:rPr lang="en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5" name="Google Shape;125;p21"/>
          <p:cNvSpPr txBox="1"/>
          <p:nvPr>
            <p:ph type="ctrTitle"/>
          </p:nvPr>
        </p:nvSpPr>
        <p:spPr>
          <a:xfrm>
            <a:off x="1298100" y="910125"/>
            <a:ext cx="6547800" cy="91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>
                <a:solidFill>
                  <a:srgbClr val="98002E"/>
                </a:solidFill>
              </a:rPr>
              <a:t>HTTP/1.1</a:t>
            </a:r>
            <a:endParaRPr sz="4480">
              <a:solidFill>
                <a:srgbClr val="98002E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9</a:t>
            </a:r>
            <a:r>
              <a:rPr b="1" lang="en" sz="1800">
                <a:solidFill>
                  <a:schemeClr val="lt1"/>
                </a:solidFill>
              </a:rPr>
              <a:t>/14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300" y="1233000"/>
            <a:ext cx="1537501" cy="3485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idx="1" type="subTitle"/>
          </p:nvPr>
        </p:nvSpPr>
        <p:spPr>
          <a:xfrm>
            <a:off x="961725" y="1825350"/>
            <a:ext cx="5049000" cy="17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HTTP/2.0 została już wydana w </a:t>
            </a:r>
            <a:r>
              <a:rPr b="1" lang="en" sz="1600">
                <a:solidFill>
                  <a:schemeClr val="dk1"/>
                </a:solidFill>
              </a:rPr>
              <a:t>2015 roku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Celem HTTP/2.0 jest do przyśpieszenie ładowanie stron, zmniejszyć opóźnienia, efektywniej używać połączeń TCP.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3" name="Google Shape;133;p22"/>
          <p:cNvSpPr txBox="1"/>
          <p:nvPr>
            <p:ph type="ctrTitle"/>
          </p:nvPr>
        </p:nvSpPr>
        <p:spPr>
          <a:xfrm>
            <a:off x="1298100" y="1150650"/>
            <a:ext cx="65478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>
                <a:solidFill>
                  <a:srgbClr val="98002E"/>
                </a:solidFill>
              </a:rPr>
              <a:t>HTTP/2.0</a:t>
            </a:r>
            <a:endParaRPr sz="4480">
              <a:solidFill>
                <a:srgbClr val="98002E"/>
              </a:solidFill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5425" y="1891225"/>
            <a:ext cx="3298375" cy="17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6594650" y="1957800"/>
            <a:ext cx="145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Multiplexing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10/14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idx="1" type="subTitle"/>
          </p:nvPr>
        </p:nvSpPr>
        <p:spPr>
          <a:xfrm>
            <a:off x="901625" y="1825425"/>
            <a:ext cx="4344900" cy="26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 2018 roku HTTP/3.0, </a:t>
            </a:r>
            <a:r>
              <a:rPr b="1" lang="en" sz="1600">
                <a:solidFill>
                  <a:schemeClr val="dk1"/>
                </a:solidFill>
              </a:rPr>
              <a:t>protokół QUIC</a:t>
            </a:r>
            <a:r>
              <a:rPr lang="en" sz="1600">
                <a:solidFill>
                  <a:schemeClr val="dk1"/>
                </a:solidFill>
              </a:rPr>
              <a:t>, działa w oparciu o </a:t>
            </a:r>
            <a:r>
              <a:rPr b="1" lang="en" sz="1600">
                <a:solidFill>
                  <a:schemeClr val="dk1"/>
                </a:solidFill>
              </a:rPr>
              <a:t>UDP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QUIC: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Integruje transport i szyfrowanie (</a:t>
            </a:r>
            <a:r>
              <a:rPr b="1" lang="en" sz="1600">
                <a:solidFill>
                  <a:schemeClr val="dk1"/>
                </a:solidFill>
              </a:rPr>
              <a:t>TLS</a:t>
            </a:r>
            <a:r>
              <a:rPr lang="en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Każdy strumień danych jest niezależny;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Szybsze nawiązywanie połączeń;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Odporność na zmiany sieci;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2" name="Google Shape;142;p23"/>
          <p:cNvSpPr txBox="1"/>
          <p:nvPr>
            <p:ph type="ctrTitle"/>
          </p:nvPr>
        </p:nvSpPr>
        <p:spPr>
          <a:xfrm>
            <a:off x="1298100" y="910125"/>
            <a:ext cx="6547800" cy="91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>
                <a:solidFill>
                  <a:srgbClr val="98002E"/>
                </a:solidFill>
              </a:rPr>
              <a:t>HTTP/3.0 i QUIC</a:t>
            </a:r>
            <a:endParaRPr sz="4480">
              <a:solidFill>
                <a:srgbClr val="98002E"/>
              </a:solidFill>
            </a:endParaRPr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525" y="1825425"/>
            <a:ext cx="3679501" cy="2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11/14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725" y="1833225"/>
            <a:ext cx="5961074" cy="261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12/14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51" name="Google Shape;151;p24"/>
          <p:cNvSpPr txBox="1"/>
          <p:nvPr>
            <p:ph type="ctrTitle"/>
          </p:nvPr>
        </p:nvSpPr>
        <p:spPr>
          <a:xfrm>
            <a:off x="910200" y="910125"/>
            <a:ext cx="7316100" cy="92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>
                <a:solidFill>
                  <a:srgbClr val="98002E"/>
                </a:solidFill>
              </a:rPr>
              <a:t>Ewolucja stosu protokołów </a:t>
            </a:r>
            <a:endParaRPr sz="4480">
              <a:solidFill>
                <a:srgbClr val="98002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ctrTitle"/>
          </p:nvPr>
        </p:nvSpPr>
        <p:spPr>
          <a:xfrm>
            <a:off x="910125" y="918800"/>
            <a:ext cx="7317300" cy="9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>
                <a:solidFill>
                  <a:srgbClr val="98002E"/>
                </a:solidFill>
              </a:rPr>
              <a:t>Statystyka</a:t>
            </a:r>
            <a:endParaRPr sz="4480">
              <a:solidFill>
                <a:srgbClr val="98002E"/>
              </a:solidFill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13/14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158" name="Google Shape;158;p25" title="Gemini_Generated_Image_6ldef16ldef16l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600" y="2198300"/>
            <a:ext cx="4714351" cy="2271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 txBox="1"/>
          <p:nvPr/>
        </p:nvSpPr>
        <p:spPr>
          <a:xfrm>
            <a:off x="913350" y="1700300"/>
            <a:ext cx="7317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Popularność wersji protokołu HTTP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ctrTitle"/>
          </p:nvPr>
        </p:nvSpPr>
        <p:spPr>
          <a:xfrm>
            <a:off x="910125" y="1258575"/>
            <a:ext cx="7317300" cy="12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00">
                <a:solidFill>
                  <a:srgbClr val="98002E"/>
                </a:solidFill>
              </a:rPr>
              <a:t>Rozwój protokołu </a:t>
            </a:r>
            <a:endParaRPr sz="4000">
              <a:solidFill>
                <a:srgbClr val="98002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98002E"/>
                </a:solidFill>
              </a:rPr>
              <a:t>HTTP/3 i QUIC</a:t>
            </a:r>
            <a:endParaRPr sz="4000">
              <a:solidFill>
                <a:srgbClr val="98002E"/>
              </a:solidFill>
            </a:endParaRPr>
          </a:p>
        </p:txBody>
      </p:sp>
      <p:sp>
        <p:nvSpPr>
          <p:cNvPr id="165" name="Google Shape;165;p26"/>
          <p:cNvSpPr txBox="1"/>
          <p:nvPr>
            <p:ph idx="1" type="subTitle"/>
          </p:nvPr>
        </p:nvSpPr>
        <p:spPr>
          <a:xfrm>
            <a:off x="3759200" y="3231800"/>
            <a:ext cx="4935900" cy="9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040"/>
              <a:t>Adam Romaševski</a:t>
            </a:r>
            <a:endParaRPr sz="2040"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640"/>
              <a:t>Informatyka II rok</a:t>
            </a:r>
            <a:endParaRPr sz="1640"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640"/>
              <a:t>2025.12.18</a:t>
            </a:r>
            <a:endParaRPr sz="1640"/>
          </a:p>
        </p:txBody>
      </p:sp>
      <p:sp>
        <p:nvSpPr>
          <p:cNvPr id="166" name="Google Shape;166;p26"/>
          <p:cNvSpPr txBox="1"/>
          <p:nvPr/>
        </p:nvSpPr>
        <p:spPr>
          <a:xfrm>
            <a:off x="4036275" y="4800000"/>
            <a:ext cx="1065000" cy="343500"/>
          </a:xfrm>
          <a:prstGeom prst="rect">
            <a:avLst/>
          </a:prstGeom>
          <a:solidFill>
            <a:srgbClr val="980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14/14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