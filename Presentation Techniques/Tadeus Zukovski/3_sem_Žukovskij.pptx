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70" r:id="rId11"/>
    <p:sldId id="265" r:id="rId12"/>
    <p:sldId id="266" r:id="rId13"/>
    <p:sldId id="267" r:id="rId14"/>
    <p:sldId id="269" r:id="rId15"/>
    <p:sldId id="268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98002E"/>
    <a:srgbClr val="0C883C"/>
    <a:srgbClr val="7B0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919AD3-6089-683C-A297-A9118A37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83EB-9050-0145-A379-06C417EE0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7A130-F59B-4121-BE1F-ED8F6151C13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11081-1EF7-6FDD-BEF0-AF7B8D5311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4FBC5-D492-7BBC-7B4D-69941FCC6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AA72F-CC97-40B7-81CA-CF7DA14ED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945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48244-36CC-4EB0-B098-A1A156C20A0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90E67-2CAA-40AD-9264-439FE55AA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Cel. Dodać wizualności.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6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Dodać elementy wizualne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83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22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Dodać </a:t>
            </a:r>
            <a:r>
              <a:rPr lang="pl-PL" dirty="0" err="1"/>
              <a:t>wizual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85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8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90E67-2CAA-40AD-9264-439FE55AA22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0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4872-FA8C-494B-A6E4-83488D4BF1E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80CF6-AF9A-4BCC-86E0-95DF688BD82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CBD1-F027-43DC-95EA-4B16A1D1E71D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89A1-702F-4ECF-8D89-C064DF26918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28AC-FCB1-4D31-8C44-F5B7D8D8AA8A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42849"/>
            <a:ext cx="2133600" cy="365125"/>
          </a:xfrm>
        </p:spPr>
        <p:txBody>
          <a:bodyPr/>
          <a:lstStyle/>
          <a:p>
            <a:fld id="{48754358-D0B8-4941-B57F-4942ADFA1F9F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60542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0773" y="6357429"/>
            <a:ext cx="2133600" cy="365125"/>
          </a:xfrm>
        </p:spPr>
        <p:txBody>
          <a:bodyPr/>
          <a:lstStyle/>
          <a:p>
            <a:fld id="{3369119A-E2F9-4AD5-8522-EB159B5B6E4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46229" y="6575502"/>
            <a:ext cx="346228" cy="279585"/>
          </a:xfrm>
          <a:solidFill>
            <a:srgbClr val="98002E"/>
          </a:solidFill>
          <a:ln>
            <a:noFill/>
          </a:ln>
        </p:spPr>
        <p:txBody>
          <a:bodyPr/>
          <a:lstStyle>
            <a:lvl1pPr algn="l">
              <a:defRPr sz="16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3725-493F-4325-806B-27E11BB52242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50D0-6CDA-4A90-A40C-9041E700228C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FD8-AC9D-46EA-A329-C72434ECC96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EA2B-48E2-449D-A99D-7ABC548F6A0D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1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B9656FA-8C41-422F-B42B-429F6459378B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30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algn="l"/>
            <a:fld id="{C1FF6DA9-008F-8B48-92A6-B652298478BF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www.reddit.com/r/proceduralgeneration/comments/fehqma/poisson_disc_sampling_formed_from_perlin_noise/" TargetMode="External"/><Relationship Id="rId7" Type="http://schemas.openxmlformats.org/officeDocument/2006/relationships/hyperlink" Target="https://www.researchgate.net/figure/Adaptive-reconstruction-by-Poisson-disk-sampling_fig1_276133603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www.cemyuksel.com/cyCodeBase/soln/samples_lenna.jpg" TargetMode="External"/><Relationship Id="rId10" Type="http://schemas.openxmlformats.org/officeDocument/2006/relationships/image" Target="../media/image9.gif"/><Relationship Id="rId4" Type="http://schemas.openxmlformats.org/officeDocument/2006/relationships/image" Target="../media/image6.jpeg"/><Relationship Id="rId9" Type="http://schemas.openxmlformats.org/officeDocument/2006/relationships/hyperlink" Target="https://pvigier.github.io/2019/06/09/vagabond-forest-generation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5.png"/><Relationship Id="rId7" Type="http://schemas.openxmlformats.org/officeDocument/2006/relationships/image" Target="../media/image3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hyperlink" Target="bridson-siggraph07-poissondisk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7956" y="1787382"/>
            <a:ext cx="110642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800" b="1" noProof="1">
                <a:solidFill>
                  <a:srgbClr val="7B0023"/>
                </a:solidFill>
                <a:latin typeface="Times New Roman" panose="02020603050405020304" pitchFamily="18" charset="0"/>
              </a:rPr>
              <a:t>Wizualizacja Algorytmu
Poisson Disc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956" y="3266668"/>
            <a:ext cx="40171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84138" algn="l"/>
              </a:tabLst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Tadeuš Žukovskij Nr albumu: 91624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956" y="3840124"/>
            <a:ext cx="356437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l-PL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Filia </a:t>
            </a:r>
            <a:r>
              <a:rPr lang="pl-PL" sz="1500" i="1" noProof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Uniwersytetu</a:t>
            </a:r>
            <a:r>
              <a:rPr lang="pl-PL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 w Białymstoku w Wilnie </a:t>
            </a:r>
            <a:br>
              <a:rPr lang="en-US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</a:br>
            <a:r>
              <a:rPr lang="pl-PL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Informatyka </a:t>
            </a:r>
            <a:br>
              <a:rPr lang="en-US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</a:br>
            <a:r>
              <a:rPr lang="pl-PL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202</a:t>
            </a:r>
            <a:r>
              <a:rPr lang="en-US" sz="15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6</a:t>
            </a:r>
            <a:endParaRPr lang="pl-PL" sz="1500" i="1" noProof="1">
              <a:solidFill>
                <a:srgbClr val="555555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1AF8F0-1B79-68FD-A037-CFBCAFB2E07E}"/>
              </a:ext>
            </a:extLst>
          </p:cNvPr>
          <p:cNvPicPr>
            <a:picLocks/>
          </p:cNvPicPr>
          <p:nvPr/>
        </p:nvPicPr>
        <p:blipFill>
          <a:blip r:embed="rId4"/>
          <a:srcRect l="8324" t="7840" r="8135" b="8366"/>
          <a:stretch>
            <a:fillRect/>
          </a:stretch>
        </p:blipFill>
        <p:spPr>
          <a:xfrm>
            <a:off x="7747269" y="1639978"/>
            <a:ext cx="4053600" cy="40536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6593B-DEB3-BCB5-F247-22A72748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3270B9D9-27D4-DFDD-392A-D21A667FCF71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5CBAC83-6AD7-0C0F-446D-048C1DBF52D2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693" y="1630233"/>
            <a:ext cx="2096803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694" y="2411362"/>
            <a:ext cx="7222962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Interaktywna wizualizacja algorytmu Poisson Disc Sampling w przeglądarce</a:t>
            </a:r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Napisany w JavaScript z biblioteką p5.js – bez instalacji</a:t>
            </a:r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Użytkownik zmienia parametry (</a:t>
            </a:r>
            <a:r>
              <a:rPr lang="pl-PL" sz="20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0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 szybkość) i obserwuje efekt na żywo</a:t>
            </a:r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Możliwość porównania z losowym generowaniem punktów</a:t>
            </a:r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Oparty na artykule Roberta Bridsona – </a:t>
            </a:r>
            <a:r>
              <a:rPr lang="pl-PL" sz="20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Fast Poisson Disk Sampling </a:t>
            </a:r>
            <a:r>
              <a:rPr lang="pl-P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(2007)</a:t>
            </a:r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1E286-EBED-6B3F-3B6D-B3769AC56A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532" y="1630233"/>
            <a:ext cx="4053600" cy="4053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3ADAF-DF85-F820-8E63-EFD06321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40CB8B-0BA8-B7E5-66D0-E9D12D92FD6E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65CBF80-A971-9086-1847-734514BC6921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7048" y="1668420"/>
            <a:ext cx="4520049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Teoria – Poisson Disc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7048" y="2356347"/>
                <a:ext cx="6835272" cy="304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Punkty rozłożone tak, że żadne dwa nie są bliżej siebie niż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r</a:t>
                </a:r>
              </a:p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Efekt: naturalny, równomierny rozkład – tzw.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blue noise</a:t>
                </a:r>
              </a:p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Parametr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– minimalna odległość między punktami</a:t>
                </a:r>
              </a:p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Parametr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– max liczba prób wygenerowania nowego punktu wokół aktywnego</a:t>
                </a:r>
              </a:p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Rozmiar komórki siatki: cellSize =</a:t>
                </a:r>
                <a:r>
                  <a:rPr lang="en-US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000" i="1" noProof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000" i="1" noProof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l-PL" sz="2000" i="1" noProof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l-PL" sz="2000" i="1" noProof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pl-PL" sz="2000" i="1" noProof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en-US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=</a:t>
                </a:r>
                <a:r>
                  <a:rPr lang="en-US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2 dla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spcBef>
                    <a:spcPts val="8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Każda komórka siatki zawiera co najwyżej jeden punkt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48" y="2356347"/>
                <a:ext cx="6835272" cy="3042692"/>
              </a:xfrm>
              <a:prstGeom prst="rect">
                <a:avLst/>
              </a:prstGeom>
              <a:blipFill>
                <a:blip r:embed="rId3"/>
                <a:stretch>
                  <a:fillRect l="-803" t="-1202" r="-1517" b="-2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mage14.png"/>
          <p:cNvPicPr>
            <a:picLocks/>
          </p:cNvPicPr>
          <p:nvPr/>
        </p:nvPicPr>
        <p:blipFill>
          <a:blip r:embed="rId4"/>
          <a:srcRect l="1051" t="1166" r="1741" b="697"/>
          <a:stretch>
            <a:fillRect/>
          </a:stretch>
        </p:blipFill>
        <p:spPr>
          <a:xfrm>
            <a:off x="7951372" y="1668420"/>
            <a:ext cx="3940405" cy="397811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0C9AF-3925-0C1D-02C1-F45C91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30BB0C-6095-48FE-F9A7-A22D9A1CFA38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BFF0F8E-A9C2-C3D7-7DAB-2EAD4B71936C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rcRect b="18367"/>
          <a:stretch>
            <a:fillRect/>
          </a:stretch>
        </p:blipFill>
        <p:spPr>
          <a:xfrm>
            <a:off x="-127" y="0"/>
            <a:ext cx="12188952" cy="55983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086" y="1648588"/>
            <a:ext cx="6070860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tabLst>
                <a:tab pos="84138" algn="l"/>
              </a:tabLst>
            </a:pPr>
            <a:r>
              <a:rPr lang="pl-PL" sz="2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Opis problem</a:t>
            </a:r>
            <a:r>
              <a:rPr lang="en-US" sz="2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pl-PL" sz="2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Zastosowania Algorytmu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086" y="2325065"/>
            <a:ext cx="5920062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Generowanie tekstur i wzorów w grafice komputerowej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Rozmieszczanie obiektów na mapach w grach (drzewa, kamienie, trawa)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Próbkowanie w renderowaniu –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anti-aliasing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głębia ostrości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Generowanie siatek punktów w symulacjach fizycznych</a:t>
            </a:r>
          </a:p>
        </p:txBody>
      </p:sp>
      <p:pic>
        <p:nvPicPr>
          <p:cNvPr id="2056" name="Picture 8" descr="Poisson disc sampling formed from Perlin Noise (Imagine white dots ...">
            <a:hlinkClick r:id="rId3"/>
            <a:extLst>
              <a:ext uri="{FF2B5EF4-FFF2-40B4-BE49-F238E27FC236}">
                <a16:creationId xmlns:a16="http://schemas.microsoft.com/office/drawing/2014/main" id="{F6092DDA-F9A9-FED8-BA87-C6B1AD41B7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8"/>
          <a:stretch>
            <a:fillRect/>
          </a:stretch>
        </p:blipFill>
        <p:spPr bwMode="auto">
          <a:xfrm>
            <a:off x="6784696" y="3995113"/>
            <a:ext cx="2325343" cy="224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oisson Disk Sampling | cyCodeBase by Cem Yuksel">
            <a:hlinkClick r:id="rId5"/>
            <a:extLst>
              <a:ext uri="{FF2B5EF4-FFF2-40B4-BE49-F238E27FC236}">
                <a16:creationId xmlns:a16="http://schemas.microsoft.com/office/drawing/2014/main" id="{1911C84B-D506-DD8F-1A73-074B71BF6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696" y="1675233"/>
            <a:ext cx="2325343" cy="224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Adaptive reconstruction by Poisson disk sampling. | Download ...">
            <a:hlinkClick r:id="rId7"/>
            <a:extLst>
              <a:ext uri="{FF2B5EF4-FFF2-40B4-BE49-F238E27FC236}">
                <a16:creationId xmlns:a16="http://schemas.microsoft.com/office/drawing/2014/main" id="{C9133063-2942-8625-031B-4D1D01691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2626"/>
          <a:stretch>
            <a:fillRect/>
          </a:stretch>
        </p:blipFill>
        <p:spPr bwMode="auto">
          <a:xfrm>
            <a:off x="9211359" y="3995113"/>
            <a:ext cx="2325343" cy="224789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411C3-D23A-AAAD-81FE-70AF2041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CE27AA37-C67D-E1BE-72FB-56217161FACC}"/>
              </a:ext>
            </a:extLst>
          </p:cNvPr>
          <p:cNvSpPr txBox="1">
            <a:spLocks/>
          </p:cNvSpPr>
          <p:nvPr/>
        </p:nvSpPr>
        <p:spPr>
          <a:xfrm>
            <a:off x="346229" y="6575502"/>
            <a:ext cx="293852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4" name="Picture 6" descr="Vagabond – Forest Generation | pvigier's blog">
            <a:hlinkClick r:id="rId9"/>
            <a:extLst>
              <a:ext uri="{FF2B5EF4-FFF2-40B4-BE49-F238E27FC236}">
                <a16:creationId xmlns:a16="http://schemas.microsoft.com/office/drawing/2014/main" id="{07EE584E-166A-18A0-96B8-3ECCC5F1D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359" y="1675233"/>
            <a:ext cx="232534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_2026-03-22_205843834.jpg">
            <a:extLst>
              <a:ext uri="{FF2B5EF4-FFF2-40B4-BE49-F238E27FC236}">
                <a16:creationId xmlns:a16="http://schemas.microsoft.com/office/drawing/2014/main" id="{C706EF6E-CAC9-1F68-1ED6-877DACEC2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67"/>
          <a:stretch>
            <a:fillRect/>
          </a:stretch>
        </p:blipFill>
        <p:spPr>
          <a:xfrm>
            <a:off x="-127" y="0"/>
            <a:ext cx="12188952" cy="55983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229" y="1665078"/>
            <a:ext cx="4617847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Projekt Systemu – 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438" y="2362762"/>
            <a:ext cx="705851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Aplikacja webowa działająca bezpośrednio w przeglądarce.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Pliki: index.html, sketch.js, style.css.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Język: JavaScript  |  Grafika: p5.js  |  UI: HTML 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&amp;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CSS.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Panel sterowania z 3 sekcjami: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Canvas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Algorytm, Animacja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Przyciski: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Start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Pause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Reset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863D84-39AC-673D-CE65-A04CBF3A5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5" t="2306" r="1643" b="1325"/>
          <a:stretch>
            <a:fillRect/>
          </a:stretch>
        </p:blipFill>
        <p:spPr>
          <a:xfrm>
            <a:off x="8239028" y="1605598"/>
            <a:ext cx="2168162" cy="21441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577653-D76B-F377-0E1D-61932EF82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37" y="4559335"/>
            <a:ext cx="4509441" cy="158474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47DFB-1E3E-82EB-62AB-753B2187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7A110148-69BB-FAF8-A16C-7BE4C33A7E97}"/>
              </a:ext>
            </a:extLst>
          </p:cNvPr>
          <p:cNvSpPr txBox="1">
            <a:spLocks/>
          </p:cNvSpPr>
          <p:nvPr/>
        </p:nvSpPr>
        <p:spPr>
          <a:xfrm>
            <a:off x="346229" y="6575502"/>
            <a:ext cx="346228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Picture 13" descr="image4.png">
            <a:extLst>
              <a:ext uri="{FF2B5EF4-FFF2-40B4-BE49-F238E27FC236}">
                <a16:creationId xmlns:a16="http://schemas.microsoft.com/office/drawing/2014/main" id="{49A6874B-7198-0E88-104E-4726204D64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4" t="1315" r="676" b="1764"/>
          <a:stretch>
            <a:fillRect/>
          </a:stretch>
        </p:blipFill>
        <p:spPr>
          <a:xfrm>
            <a:off x="6767831" y="3839464"/>
            <a:ext cx="5110556" cy="2678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229" y="1693598"/>
            <a:ext cx="4416552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Panel Sterowania i Parametry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229" y="2413308"/>
            <a:ext cx="5533362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Wymiary </a:t>
            </a:r>
            <a:r>
              <a:rPr lang="pl-PL" sz="2000" b="1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canvas</a:t>
            </a:r>
            <a:r>
              <a:rPr lang="en-US" sz="2000" b="1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: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200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1000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px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(szer. i wys.)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Szybkość animacji</a:t>
            </a:r>
            <a:r>
              <a:rPr lang="en-US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: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1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200 iteracji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/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klatkę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Promień </a:t>
            </a:r>
            <a:r>
              <a:rPr lang="pl-PL" sz="2000" b="1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</a:t>
            </a: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: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2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50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px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 |  Liczba prób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k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: 5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100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b="1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Stroke</a:t>
            </a: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 (grubość rysowania):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1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20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Motywy: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White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Rainbow Position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Rainbow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Noise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en-US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Rainbow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(</a:t>
            </a:r>
            <a:r>
              <a:rPr lang="en-US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order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en-US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of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en-US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creation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) /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Random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Colors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b="1" noProof="1">
                <a:solidFill>
                  <a:srgbClr val="222222"/>
                </a:solidFill>
                <a:latin typeface="Times New Roman" panose="02020603050405020304" pitchFamily="18" charset="0"/>
              </a:rPr>
              <a:t>Dodatkowe parametry: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Show Rejected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(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Red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)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Show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Active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(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Purple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3"/>
          <a:srcRect l="994" t="1315" r="676" b="1764"/>
          <a:stretch>
            <a:fillRect/>
          </a:stretch>
        </p:blipFill>
        <p:spPr>
          <a:xfrm>
            <a:off x="5938887" y="2064470"/>
            <a:ext cx="5863472" cy="307313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9351C-B20E-E0A3-0CDF-80C286AD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DC6E34-AB13-AB61-1FBB-7646F5CB5D80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E028381-0F58-2159-D01F-A7B9081378F4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369915-88A4-0593-106F-E42215883230}"/>
              </a:ext>
            </a:extLst>
          </p:cNvPr>
          <p:cNvSpPr/>
          <p:nvPr/>
        </p:nvSpPr>
        <p:spPr>
          <a:xfrm>
            <a:off x="7780147" y="5417232"/>
            <a:ext cx="4062450" cy="3892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46228" y="1709850"/>
            <a:ext cx="6112623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Opis Algorytmu – 3 Kroki (Bridson, 2007)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46229" y="2536511"/>
                <a:ext cx="7383750" cy="3791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00000">
                  <a:spcBef>
                    <a:spcPts val="800"/>
                  </a:spcBef>
                  <a:spcAft>
                    <a:spcPts val="200"/>
                  </a:spcAft>
                </a:pPr>
                <a:r>
                  <a:rPr lang="pl-PL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Krok 0</a:t>
                </a:r>
                <a:r>
                  <a:rPr lang="en-US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: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Siatka (Grid): cellSize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000" i="1" noProof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000" i="1" noProof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l-PL" sz="2000" i="1" noProof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noProof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; każda komórka =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1 punkt;</a:t>
                </a:r>
                <a:r>
                  <a:rPr lang="en-US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inicjalizacja jako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undefined</a:t>
                </a:r>
              </a:p>
              <a:p>
                <a:pPr>
                  <a:spcBef>
                    <a:spcPts val="800"/>
                  </a:spcBef>
                  <a:spcAft>
                    <a:spcPts val="200"/>
                  </a:spcAft>
                </a:pPr>
                <a:r>
                  <a:rPr lang="pl-PL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Krok 1</a:t>
                </a:r>
                <a:r>
                  <a:rPr lang="en-US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: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Punkt startowy: losowy punkt z canvasu dodany do siatki i listy aktywnej</a:t>
                </a:r>
              </a:p>
              <a:p>
                <a:pPr>
                  <a:spcBef>
                    <a:spcPts val="800"/>
                  </a:spcBef>
                  <a:spcAft>
                    <a:spcPts val="200"/>
                  </a:spcAft>
                </a:pPr>
                <a:r>
                  <a:rPr lang="pl-PL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Krok 2</a:t>
                </a:r>
                <a:r>
                  <a:rPr lang="en-US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: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Pętla główna: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Losuj punkt z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active list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Generuj do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kandydatów w pierścieniu między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i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2r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Dodaj kandydata jeśli odległość od sąsiadów ≥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r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Jeśli żaden z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kandydatów nie przeszedł usuń punkt z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active list</a:t>
                </a:r>
              </a:p>
              <a:p>
                <a:pPr>
                  <a:spcBef>
                    <a:spcPts val="800"/>
                  </a:spcBef>
                  <a:spcAft>
                    <a:spcPts val="200"/>
                  </a:spcAft>
                </a:pPr>
                <a:r>
                  <a:rPr lang="pl-PL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Koniec</a:t>
                </a:r>
                <a:r>
                  <a:rPr lang="en-US" sz="2000" b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: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pl-PL" sz="2000" i="1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active list </a:t>
                </a:r>
                <a:r>
                  <a:rPr lang="pl-PL" sz="2000" noProof="1">
                    <a:solidFill>
                      <a:srgbClr val="222222"/>
                    </a:solidFill>
                    <a:latin typeface="Times New Roman" panose="02020603050405020304" pitchFamily="18" charset="0"/>
                  </a:rPr>
                  <a:t>jest pusta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29" y="2536511"/>
                <a:ext cx="7383750" cy="3791935"/>
              </a:xfrm>
              <a:prstGeom prst="rect">
                <a:avLst/>
              </a:prstGeom>
              <a:blipFill>
                <a:blip r:embed="rId3"/>
                <a:stretch>
                  <a:fillRect l="-908" b="-1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8B600A-11EA-6799-45DE-EBA5BE500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146" y="1707965"/>
            <a:ext cx="4062451" cy="17191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F689B4-AB2B-1513-1404-896A2801E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145" y="3500111"/>
            <a:ext cx="4062451" cy="18441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CCAEB0-17AD-7D9F-EC4D-35D87F7C7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147" y="5417231"/>
            <a:ext cx="2278253" cy="3162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4AA41-8FF9-F6E3-579F-7A90B5AE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152C55-F649-5B25-DF61-EEDE73E7B79F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00CD752-D07F-404D-A222-CAA2F9EE9B59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D497DA-C952-0B35-9F60-5B43320705B2}"/>
              </a:ext>
            </a:extLst>
          </p:cNvPr>
          <p:cNvSpPr/>
          <p:nvPr/>
        </p:nvSpPr>
        <p:spPr>
          <a:xfrm>
            <a:off x="8232492" y="3729937"/>
            <a:ext cx="3715791" cy="48211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F0999-4E7C-7828-1502-B73E938EF30F}"/>
              </a:ext>
            </a:extLst>
          </p:cNvPr>
          <p:cNvSpPr/>
          <p:nvPr/>
        </p:nvSpPr>
        <p:spPr>
          <a:xfrm>
            <a:off x="8232493" y="4387409"/>
            <a:ext cx="3715791" cy="48211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55D57-27D7-3E9D-6E95-08DC22AB2F75}"/>
              </a:ext>
            </a:extLst>
          </p:cNvPr>
          <p:cNvSpPr/>
          <p:nvPr/>
        </p:nvSpPr>
        <p:spPr>
          <a:xfrm>
            <a:off x="8232492" y="5065242"/>
            <a:ext cx="3715791" cy="48211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46229" y="1700784"/>
            <a:ext cx="4901184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Implementacja – Główne Funkcje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228" y="2459736"/>
            <a:ext cx="7886265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setup()</a:t>
            </a:r>
            <a:r>
              <a:rPr lang="en-US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 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tworzy canvas p5.js, ustawia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HSB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wywołuje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initPoissonDiscSampling()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draw()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– pętla p5.js; pobiera suwaki, wykonuje iteracje, rysuje punkty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initPoissonDiscSampling()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–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inicjuje grid[]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active[]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oblicza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cellSize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, losuje start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sketch2(p)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 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drugi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canvas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(instance mode);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max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1000 losowych punktów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togglePause()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resetAlgorithm()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changeCanvasSize()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/ </a:t>
            </a: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updateR()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1500" noProof="1">
                <a:solidFill>
                  <a:srgbClr val="22222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setToDefault()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 –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przywraca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=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10,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k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=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20, stroke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=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×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0.5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569630-C631-11AE-8DCD-9BE210BE7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95"/>
          <a:stretch>
            <a:fillRect/>
          </a:stretch>
        </p:blipFill>
        <p:spPr>
          <a:xfrm>
            <a:off x="8232493" y="1700784"/>
            <a:ext cx="3715793" cy="18334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8E80C2-2907-4B39-D7A2-6611D1C68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42" b="-3855"/>
          <a:stretch>
            <a:fillRect/>
          </a:stretch>
        </p:blipFill>
        <p:spPr>
          <a:xfrm>
            <a:off x="8232495" y="4387408"/>
            <a:ext cx="2801044" cy="4821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3E0D67-77E9-B730-3217-455848406C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845" b="-3855"/>
          <a:stretch>
            <a:fillRect/>
          </a:stretch>
        </p:blipFill>
        <p:spPr>
          <a:xfrm>
            <a:off x="8232491" y="5065243"/>
            <a:ext cx="2862855" cy="4821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E20F3F-63E3-84E6-0310-DBBA4A0ACE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240" b="-3855"/>
          <a:stretch>
            <a:fillRect/>
          </a:stretch>
        </p:blipFill>
        <p:spPr>
          <a:xfrm>
            <a:off x="8232494" y="3734517"/>
            <a:ext cx="2703861" cy="4821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2C13A-4955-E3E3-0D1F-7C1BBA21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E5DCB856-5394-5628-4D3F-128FBB368CE4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1FFBFB1-3076-742B-0CC3-1DF56EF45B17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5" grpId="0" animBg="1"/>
      <p:bldP spid="3" grpId="0" animBg="1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229" y="1719072"/>
            <a:ext cx="4004945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Złożoność Czasowa –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229" y="2377440"/>
            <a:ext cx="8121114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Algorytm ma złożoność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O(N)</a:t>
            </a:r>
            <a:r>
              <a:rPr lang="en-US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,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r>
              <a:rPr lang="en-US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N 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− liczba wygenerowanych punktów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Krok 2 wykonywany dokładnie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2N 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− 1 razy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Każde wywołanie: albo dodaje punkt, albo usuwa z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active list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Koszt jednego wywołania: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O(k)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, gdzie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k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 jest stałe i małe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Sprawdzanie sąsiadów przez siatkę stały czas dostępu 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O(</a:t>
            </a: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1</a:t>
            </a:r>
            <a:r>
              <a:rPr lang="pl-PL" sz="21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)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Wynik: algorytm liniowy – szybki nawet dla dużych canvasów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8A78-F968-E4CA-4686-569EF24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C308DF1A-E412-0B8C-38D8-82B4CC72D22B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FB7AE48-108C-9567-A8A0-3E720C982853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691B-C64A-E6DD-0912-00D133515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image_2026-03-22_205843834.jpg">
            <a:extLst>
              <a:ext uri="{FF2B5EF4-FFF2-40B4-BE49-F238E27FC236}">
                <a16:creationId xmlns:a16="http://schemas.microsoft.com/office/drawing/2014/main" id="{6FAAF54C-897C-9B6E-E9A5-3162CFDDE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367"/>
          <a:stretch>
            <a:fillRect/>
          </a:stretch>
        </p:blipFill>
        <p:spPr>
          <a:xfrm>
            <a:off x="-127" y="0"/>
            <a:ext cx="12188952" cy="55983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CD4FAA-A967-3DD0-8A03-AA47FC4F61A6}"/>
              </a:ext>
            </a:extLst>
          </p:cNvPr>
          <p:cNvSpPr/>
          <p:nvPr/>
        </p:nvSpPr>
        <p:spPr>
          <a:xfrm>
            <a:off x="485647" y="1906524"/>
            <a:ext cx="11255691" cy="4818888"/>
          </a:xfrm>
          <a:prstGeom prst="rect">
            <a:avLst/>
          </a:prstGeom>
          <a:solidFill>
            <a:schemeClr val="tx1"/>
          </a:solidFill>
          <a:ln w="38100">
            <a:solidFill>
              <a:srgbClr val="7B0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AE9FF0B3-5FD8-0E91-CC54-9AD4BAFF1ABD}"/>
              </a:ext>
            </a:extLst>
          </p:cNvPr>
          <p:cNvSpPr/>
          <p:nvPr/>
        </p:nvSpPr>
        <p:spPr>
          <a:xfrm>
            <a:off x="2793492" y="2289810"/>
            <a:ext cx="3520440" cy="3640835"/>
          </a:xfrm>
          <a:prstGeom prst="donut">
            <a:avLst>
              <a:gd name="adj" fmla="val 19672"/>
            </a:avLst>
          </a:prstGeom>
          <a:solidFill>
            <a:srgbClr val="92D050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2C4234-2AAC-5515-4AC9-AE2AEB8E4917}"/>
              </a:ext>
            </a:extLst>
          </p:cNvPr>
          <p:cNvSpPr/>
          <p:nvPr/>
        </p:nvSpPr>
        <p:spPr>
          <a:xfrm>
            <a:off x="4338828" y="3904488"/>
            <a:ext cx="429768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A49C0DCF-C8A4-BCDC-34BE-9A5816C16903}"/>
              </a:ext>
            </a:extLst>
          </p:cNvPr>
          <p:cNvSpPr/>
          <p:nvPr/>
        </p:nvSpPr>
        <p:spPr>
          <a:xfrm>
            <a:off x="4887468" y="4037076"/>
            <a:ext cx="1426464" cy="146304"/>
          </a:xfrm>
          <a:prstGeom prst="leftRightArrow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675C79-7662-D24A-0344-387C6A801484}"/>
              </a:ext>
            </a:extLst>
          </p:cNvPr>
          <p:cNvCxnSpPr>
            <a:cxnSpLocks/>
          </p:cNvCxnSpPr>
          <p:nvPr/>
        </p:nvCxnSpPr>
        <p:spPr>
          <a:xfrm>
            <a:off x="4887468" y="3866388"/>
            <a:ext cx="68275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6AC98C-ED13-D678-CC22-6E2B22200A5D}"/>
              </a:ext>
            </a:extLst>
          </p:cNvPr>
          <p:cNvCxnSpPr>
            <a:cxnSpLocks/>
          </p:cNvCxnSpPr>
          <p:nvPr/>
        </p:nvCxnSpPr>
        <p:spPr>
          <a:xfrm>
            <a:off x="5570220" y="3866388"/>
            <a:ext cx="69691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5E2144D-8683-D7BC-0186-FAABDD3F37A1}"/>
              </a:ext>
            </a:extLst>
          </p:cNvPr>
          <p:cNvSpPr txBox="1"/>
          <p:nvPr/>
        </p:nvSpPr>
        <p:spPr>
          <a:xfrm>
            <a:off x="5350346" y="41165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B6704B-642C-1C42-EE9E-3A4DE45181A0}"/>
              </a:ext>
            </a:extLst>
          </p:cNvPr>
          <p:cNvSpPr txBox="1"/>
          <p:nvPr/>
        </p:nvSpPr>
        <p:spPr>
          <a:xfrm>
            <a:off x="5037926" y="34970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C04917-68B4-9B2A-B5C1-E3097B599303}"/>
              </a:ext>
            </a:extLst>
          </p:cNvPr>
          <p:cNvSpPr txBox="1"/>
          <p:nvPr/>
        </p:nvSpPr>
        <p:spPr>
          <a:xfrm>
            <a:off x="5732182" y="34970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4D5540-19E2-6FDE-454F-70671AC9399E}"/>
              </a:ext>
            </a:extLst>
          </p:cNvPr>
          <p:cNvSpPr/>
          <p:nvPr/>
        </p:nvSpPr>
        <p:spPr>
          <a:xfrm>
            <a:off x="5228844" y="2783061"/>
            <a:ext cx="429768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165D0A-16AD-F9FA-AD9B-CA42369E796C}"/>
              </a:ext>
            </a:extLst>
          </p:cNvPr>
          <p:cNvCxnSpPr>
            <a:cxnSpLocks/>
          </p:cNvCxnSpPr>
          <p:nvPr/>
        </p:nvCxnSpPr>
        <p:spPr>
          <a:xfrm flipH="1">
            <a:off x="556769" y="4452860"/>
            <a:ext cx="11184569" cy="242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9562A8-9E8A-6C31-AE1E-27E6D15C1978}"/>
              </a:ext>
            </a:extLst>
          </p:cNvPr>
          <p:cNvCxnSpPr>
            <a:cxnSpLocks/>
          </p:cNvCxnSpPr>
          <p:nvPr/>
        </p:nvCxnSpPr>
        <p:spPr>
          <a:xfrm flipH="1">
            <a:off x="485648" y="5350478"/>
            <a:ext cx="112556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6CA5FC-66F9-1FF0-FD19-D61B30B75A56}"/>
              </a:ext>
            </a:extLst>
          </p:cNvPr>
          <p:cNvGrpSpPr/>
          <p:nvPr/>
        </p:nvGrpSpPr>
        <p:grpSpPr>
          <a:xfrm rot="5400000">
            <a:off x="5664684" y="1074557"/>
            <a:ext cx="897618" cy="11255689"/>
            <a:chOff x="8366760" y="1562100"/>
            <a:chExt cx="771237" cy="541782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53F0E5E-E59C-B5A2-1567-1EF0994ED7FE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82E935B-6AD8-736A-AEB0-9119CBBD92EF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01AFC68-A841-C628-4063-A631602488C1}"/>
              </a:ext>
            </a:extLst>
          </p:cNvPr>
          <p:cNvGrpSpPr/>
          <p:nvPr/>
        </p:nvGrpSpPr>
        <p:grpSpPr>
          <a:xfrm rot="5400000">
            <a:off x="5626516" y="-2515069"/>
            <a:ext cx="897618" cy="11255691"/>
            <a:chOff x="8366760" y="1562100"/>
            <a:chExt cx="771237" cy="5417820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88A0A39-1116-E590-FDB3-BBC9AE6598B9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6615E77-48B0-FEB2-0207-6854FD66D694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FB86D6D-658D-2FCD-2679-A7665BBE928A}"/>
              </a:ext>
            </a:extLst>
          </p:cNvPr>
          <p:cNvGrpSpPr/>
          <p:nvPr/>
        </p:nvGrpSpPr>
        <p:grpSpPr>
          <a:xfrm>
            <a:off x="10061481" y="1924363"/>
            <a:ext cx="1042617" cy="4801049"/>
            <a:chOff x="8366760" y="1562100"/>
            <a:chExt cx="771237" cy="541782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09F6A67-0CF0-974E-246B-30B5399E62C9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51EDEC0-BB16-D59A-4AEC-3477B14A456A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D8EB3B5-7FED-B984-0886-9B4F5E3C87BC}"/>
              </a:ext>
            </a:extLst>
          </p:cNvPr>
          <p:cNvGrpSpPr/>
          <p:nvPr/>
        </p:nvGrpSpPr>
        <p:grpSpPr>
          <a:xfrm>
            <a:off x="6142826" y="1906524"/>
            <a:ext cx="1032494" cy="4818888"/>
            <a:chOff x="8366760" y="1562100"/>
            <a:chExt cx="771237" cy="5417820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A344734-1370-EC40-7CED-FE2FCB636632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8C5F4EE-7D96-BA9A-DC72-7DB1B54E9408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5464368-3956-7530-D63D-25E5DB97F17E}"/>
              </a:ext>
            </a:extLst>
          </p:cNvPr>
          <p:cNvGrpSpPr/>
          <p:nvPr/>
        </p:nvGrpSpPr>
        <p:grpSpPr>
          <a:xfrm>
            <a:off x="8102553" y="1916739"/>
            <a:ext cx="1032494" cy="4808672"/>
            <a:chOff x="8366760" y="1562100"/>
            <a:chExt cx="771237" cy="5417820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01418C9-6B8D-7D1D-7FDD-6CA2C2A36402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9812EF1-B801-AA4E-CB10-1E456D61B3B6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9DC2E8-B855-EDFB-E37D-3C122F5740F4}"/>
              </a:ext>
            </a:extLst>
          </p:cNvPr>
          <p:cNvGrpSpPr/>
          <p:nvPr/>
        </p:nvGrpSpPr>
        <p:grpSpPr>
          <a:xfrm>
            <a:off x="2236258" y="1924364"/>
            <a:ext cx="1032494" cy="4801048"/>
            <a:chOff x="8366760" y="1562100"/>
            <a:chExt cx="771237" cy="541782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9CB3C8C-F8B5-BCA9-BAA4-FC9C3CDE85E2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73D5139-D79E-A001-B78D-8B3D8F2ADD9B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2543172-AA00-822C-A653-9AD8B7F7AAF4}"/>
              </a:ext>
            </a:extLst>
          </p:cNvPr>
          <p:cNvGrpSpPr/>
          <p:nvPr/>
        </p:nvGrpSpPr>
        <p:grpSpPr>
          <a:xfrm>
            <a:off x="4195986" y="1906524"/>
            <a:ext cx="1032494" cy="4818888"/>
            <a:chOff x="8366760" y="1562100"/>
            <a:chExt cx="771237" cy="5417820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D6818BA-D061-824E-7E4A-377DDFA2AC86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6DA9C7D-1814-DEFB-DEB6-B61214756BD0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346D47B-55ED-4463-B35B-DFA56A7292DE}"/>
              </a:ext>
            </a:extLst>
          </p:cNvPr>
          <p:cNvGrpSpPr/>
          <p:nvPr/>
        </p:nvGrpSpPr>
        <p:grpSpPr>
          <a:xfrm>
            <a:off x="1271814" y="1916739"/>
            <a:ext cx="976871" cy="4808671"/>
            <a:chOff x="8366760" y="1562100"/>
            <a:chExt cx="771237" cy="541782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2A6D12E-8C36-DF04-ABCE-4AA5FE456478}"/>
                </a:ext>
              </a:extLst>
            </p:cNvPr>
            <p:cNvCxnSpPr/>
            <p:nvPr/>
          </p:nvCxnSpPr>
          <p:spPr>
            <a:xfrm>
              <a:off x="8366760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AED0B32-2AB5-6C42-9E84-AE01B30EC749}"/>
                </a:ext>
              </a:extLst>
            </p:cNvPr>
            <p:cNvCxnSpPr/>
            <p:nvPr/>
          </p:nvCxnSpPr>
          <p:spPr>
            <a:xfrm>
              <a:off x="9137997" y="1562100"/>
              <a:ext cx="0" cy="54178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D036A91-F993-9220-1379-0CFCBFC270F2}"/>
              </a:ext>
            </a:extLst>
          </p:cNvPr>
          <p:cNvGrpSpPr/>
          <p:nvPr/>
        </p:nvGrpSpPr>
        <p:grpSpPr>
          <a:xfrm>
            <a:off x="6267132" y="3569699"/>
            <a:ext cx="793103" cy="567725"/>
            <a:chOff x="6267132" y="3569699"/>
            <a:chExt cx="793103" cy="56772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8181AD3-CD0D-03C5-4CC3-64D30F24AAFB}"/>
                </a:ext>
              </a:extLst>
            </p:cNvPr>
            <p:cNvCxnSpPr/>
            <p:nvPr/>
          </p:nvCxnSpPr>
          <p:spPr>
            <a:xfrm>
              <a:off x="6267132" y="4105934"/>
              <a:ext cx="79310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7CE30D5E-6DD2-8202-473C-3F449E238708}"/>
                    </a:ext>
                  </a:extLst>
                </p:cNvPr>
                <p:cNvSpPr txBox="1"/>
                <p:nvPr/>
              </p:nvSpPr>
              <p:spPr>
                <a:xfrm>
                  <a:off x="6411727" y="3569699"/>
                  <a:ext cx="506457" cy="567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7CE30D5E-6DD2-8202-473C-3F449E238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727" y="3569699"/>
                  <a:ext cx="506457" cy="567725"/>
                </a:xfrm>
                <a:prstGeom prst="rect">
                  <a:avLst/>
                </a:prstGeom>
                <a:blipFill>
                  <a:blip r:embed="rId4"/>
                  <a:stretch>
                    <a:fillRect r="-72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3B6E4C3-03BE-146D-4B57-16C263640054}"/>
              </a:ext>
            </a:extLst>
          </p:cNvPr>
          <p:cNvSpPr/>
          <p:nvPr/>
        </p:nvSpPr>
        <p:spPr>
          <a:xfrm>
            <a:off x="4203933" y="1916757"/>
            <a:ext cx="995743" cy="764475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4659CAB-E2B8-0186-0CBB-BAD2AB299635}"/>
              </a:ext>
            </a:extLst>
          </p:cNvPr>
          <p:cNvSpPr/>
          <p:nvPr/>
        </p:nvSpPr>
        <p:spPr>
          <a:xfrm>
            <a:off x="4226655" y="2675646"/>
            <a:ext cx="995743" cy="873681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513C900-A280-D609-7F1F-FE29C9F5FB7A}"/>
              </a:ext>
            </a:extLst>
          </p:cNvPr>
          <p:cNvSpPr/>
          <p:nvPr/>
        </p:nvSpPr>
        <p:spPr>
          <a:xfrm>
            <a:off x="6165922" y="2644324"/>
            <a:ext cx="1019602" cy="886432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E57FEB1-2E95-03E2-9913-FB310CF489C2}"/>
              </a:ext>
            </a:extLst>
          </p:cNvPr>
          <p:cNvSpPr/>
          <p:nvPr/>
        </p:nvSpPr>
        <p:spPr>
          <a:xfrm>
            <a:off x="5160740" y="3593047"/>
            <a:ext cx="995743" cy="833087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7A70450-8FC7-B32A-7BDF-E2AA81BB54EA}"/>
              </a:ext>
            </a:extLst>
          </p:cNvPr>
          <p:cNvSpPr/>
          <p:nvPr/>
        </p:nvSpPr>
        <p:spPr>
          <a:xfrm>
            <a:off x="4169749" y="3592367"/>
            <a:ext cx="995743" cy="833087"/>
          </a:xfrm>
          <a:prstGeom prst="rect">
            <a:avLst/>
          </a:prstGeom>
          <a:solidFill>
            <a:srgbClr val="FFFF0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A3AA110-3F46-B4B4-A054-918BF0B6C9CF}"/>
              </a:ext>
            </a:extLst>
          </p:cNvPr>
          <p:cNvSpPr/>
          <p:nvPr/>
        </p:nvSpPr>
        <p:spPr>
          <a:xfrm>
            <a:off x="5208438" y="1918478"/>
            <a:ext cx="995743" cy="775008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C630505-A5A3-BE07-60E0-A85DE68DD062}"/>
              </a:ext>
            </a:extLst>
          </p:cNvPr>
          <p:cNvSpPr/>
          <p:nvPr/>
        </p:nvSpPr>
        <p:spPr>
          <a:xfrm>
            <a:off x="6129935" y="3589176"/>
            <a:ext cx="1088950" cy="833087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3DCE44C-2CF3-75CA-F67C-BA8CA3305BFF}"/>
              </a:ext>
            </a:extLst>
          </p:cNvPr>
          <p:cNvSpPr/>
          <p:nvPr/>
        </p:nvSpPr>
        <p:spPr>
          <a:xfrm>
            <a:off x="5157288" y="2697669"/>
            <a:ext cx="995743" cy="833087"/>
          </a:xfrm>
          <a:prstGeom prst="rect">
            <a:avLst/>
          </a:prstGeom>
          <a:solidFill>
            <a:srgbClr val="00B050">
              <a:alpha val="6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A9E5EF6-7330-FE87-7D9E-77BF6250AC70}"/>
              </a:ext>
            </a:extLst>
          </p:cNvPr>
          <p:cNvSpPr/>
          <p:nvPr/>
        </p:nvSpPr>
        <p:spPr>
          <a:xfrm>
            <a:off x="6223570" y="1924364"/>
            <a:ext cx="913737" cy="700181"/>
          </a:xfrm>
          <a:prstGeom prst="rect">
            <a:avLst/>
          </a:prstGeom>
          <a:solidFill>
            <a:srgbClr val="0C883C">
              <a:alpha val="7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A5203E62-C229-BFA1-FD9F-370516B66AFF}"/>
              </a:ext>
            </a:extLst>
          </p:cNvPr>
          <p:cNvSpPr/>
          <p:nvPr/>
        </p:nvSpPr>
        <p:spPr>
          <a:xfrm>
            <a:off x="3591066" y="3947513"/>
            <a:ext cx="389991" cy="38263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0A2756E-AED2-CC34-4B45-929DE5BE0330}"/>
              </a:ext>
            </a:extLst>
          </p:cNvPr>
          <p:cNvSpPr/>
          <p:nvPr/>
        </p:nvSpPr>
        <p:spPr>
          <a:xfrm>
            <a:off x="3395598" y="2699355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255916B3-BE55-4600-B1ED-F0FD2367EE0A}"/>
              </a:ext>
            </a:extLst>
          </p:cNvPr>
          <p:cNvSpPr/>
          <p:nvPr/>
        </p:nvSpPr>
        <p:spPr>
          <a:xfrm>
            <a:off x="2767112" y="3901278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F016A80-75B2-5062-9EDC-9FEBF971A7E8}"/>
              </a:ext>
            </a:extLst>
          </p:cNvPr>
          <p:cNvSpPr/>
          <p:nvPr/>
        </p:nvSpPr>
        <p:spPr>
          <a:xfrm>
            <a:off x="3660857" y="4923193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07C53D4-FDD0-A7A0-BC1B-CB8856C1516E}"/>
              </a:ext>
            </a:extLst>
          </p:cNvPr>
          <p:cNvSpPr/>
          <p:nvPr/>
        </p:nvSpPr>
        <p:spPr>
          <a:xfrm>
            <a:off x="4766108" y="5472556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CD0D0674-3624-03BF-E982-9C3674AC959F}"/>
              </a:ext>
            </a:extLst>
          </p:cNvPr>
          <p:cNvSpPr/>
          <p:nvPr/>
        </p:nvSpPr>
        <p:spPr>
          <a:xfrm>
            <a:off x="5618260" y="4565382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9DB86CE-F84F-35DD-273A-2FB487F39063}"/>
              </a:ext>
            </a:extLst>
          </p:cNvPr>
          <p:cNvSpPr/>
          <p:nvPr/>
        </p:nvSpPr>
        <p:spPr>
          <a:xfrm>
            <a:off x="5716737" y="3658090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AD98B1-74BA-724C-8764-7D99DB64AEA6}"/>
              </a:ext>
            </a:extLst>
          </p:cNvPr>
          <p:cNvSpPr/>
          <p:nvPr/>
        </p:nvSpPr>
        <p:spPr>
          <a:xfrm>
            <a:off x="4423633" y="2248361"/>
            <a:ext cx="424362" cy="42728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FDCCA44-FD4E-21C8-DBA0-7CE4FD88198C}"/>
              </a:ext>
            </a:extLst>
          </p:cNvPr>
          <p:cNvCxnSpPr>
            <a:cxnSpLocks/>
          </p:cNvCxnSpPr>
          <p:nvPr/>
        </p:nvCxnSpPr>
        <p:spPr>
          <a:xfrm flipH="1" flipV="1">
            <a:off x="3819960" y="3581568"/>
            <a:ext cx="822324" cy="526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0A4FCF0-DBCF-2FD4-57C0-22E07546AA5A}"/>
              </a:ext>
            </a:extLst>
          </p:cNvPr>
          <p:cNvCxnSpPr>
            <a:cxnSpLocks/>
          </p:cNvCxnSpPr>
          <p:nvPr/>
        </p:nvCxnSpPr>
        <p:spPr>
          <a:xfrm flipH="1">
            <a:off x="3549024" y="4137424"/>
            <a:ext cx="1001396" cy="618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0BFD77F-846B-0C88-79B7-A3FC35F8B209}"/>
              </a:ext>
            </a:extLst>
          </p:cNvPr>
          <p:cNvCxnSpPr>
            <a:cxnSpLocks/>
          </p:cNvCxnSpPr>
          <p:nvPr/>
        </p:nvCxnSpPr>
        <p:spPr>
          <a:xfrm>
            <a:off x="4638745" y="4177342"/>
            <a:ext cx="377530" cy="9193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3A0DF3C-7193-33B9-AC7D-80A16C3657CC}"/>
              </a:ext>
            </a:extLst>
          </p:cNvPr>
          <p:cNvCxnSpPr>
            <a:cxnSpLocks/>
          </p:cNvCxnSpPr>
          <p:nvPr/>
        </p:nvCxnSpPr>
        <p:spPr>
          <a:xfrm flipV="1">
            <a:off x="4583265" y="3144046"/>
            <a:ext cx="319012" cy="972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F652FC4-9302-12D2-F429-DCB025C22BD9}"/>
              </a:ext>
            </a:extLst>
          </p:cNvPr>
          <p:cNvCxnSpPr>
            <a:cxnSpLocks/>
          </p:cNvCxnSpPr>
          <p:nvPr/>
        </p:nvCxnSpPr>
        <p:spPr>
          <a:xfrm>
            <a:off x="4697267" y="4133298"/>
            <a:ext cx="1088950" cy="78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C7F3938-C2A0-97E4-62B1-EB48EFA83524}"/>
              </a:ext>
            </a:extLst>
          </p:cNvPr>
          <p:cNvCxnSpPr>
            <a:cxnSpLocks/>
          </p:cNvCxnSpPr>
          <p:nvPr/>
        </p:nvCxnSpPr>
        <p:spPr>
          <a:xfrm flipH="1">
            <a:off x="4320187" y="4224141"/>
            <a:ext cx="192819" cy="104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D2365B2-9BB8-77DC-F79F-50BA3D9464BF}"/>
              </a:ext>
            </a:extLst>
          </p:cNvPr>
          <p:cNvCxnSpPr>
            <a:cxnSpLocks/>
          </p:cNvCxnSpPr>
          <p:nvPr/>
        </p:nvCxnSpPr>
        <p:spPr>
          <a:xfrm flipH="1" flipV="1">
            <a:off x="4615821" y="3183019"/>
            <a:ext cx="72087" cy="10609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DD910C6-13CF-D1CF-FD86-13374628EC77}"/>
              </a:ext>
            </a:extLst>
          </p:cNvPr>
          <p:cNvCxnSpPr>
            <a:cxnSpLocks/>
          </p:cNvCxnSpPr>
          <p:nvPr/>
        </p:nvCxnSpPr>
        <p:spPr>
          <a:xfrm>
            <a:off x="4535671" y="4209725"/>
            <a:ext cx="998467" cy="1042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B5B7442F-530A-40B7-F37C-3A6990C71523}"/>
              </a:ext>
            </a:extLst>
          </p:cNvPr>
          <p:cNvCxnSpPr>
            <a:cxnSpLocks/>
          </p:cNvCxnSpPr>
          <p:nvPr/>
        </p:nvCxnSpPr>
        <p:spPr>
          <a:xfrm flipH="1" flipV="1">
            <a:off x="4085966" y="2937965"/>
            <a:ext cx="291075" cy="1269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86BCE-C056-4293-345B-C176C6E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04986"/>
            <a:ext cx="429197" cy="27958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1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xit" presetSubtype="0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9" accel="50000">
                                          <p:stCondLst>
                                            <p:cond delay="9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9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9">
                                          <p:stCondLst>
                                            <p:cond delay="9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3" tmFilter="0, 0; 0.125,0.2665; 0.25,0.4; 0.375,0.465; 0.5,0.5;  0.625,0.535; 0.75,0.6; 0.875,0.7335; 1,1">
                                          <p:stCondLst>
                                            <p:cond delay="33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7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" tmFilter="0, 0; 0.125,0.2665; 0.25,0.4; 0.375,0.465; 0.5,0.5;  0.625,0.535; 0.75,0.6; 0.875,0.7335; 1,1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9" accel="50000">
                                          <p:stCondLst>
                                            <p:cond delay="9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1">
                                          <p:stCondLst>
                                            <p:cond delay="3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8" decel="50000">
                                          <p:stCondLst>
                                            <p:cond delay="32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8" decel="50000">
                                          <p:stCondLst>
                                            <p:cond delay="67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8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1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8" decel="50000">
                                          <p:stCondLst>
                                            <p:cond delay="92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1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1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600"/>
                            </p:stCondLst>
                            <p:childTnLst>
                              <p:par>
                                <p:cTn id="185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1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8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1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1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200"/>
                            </p:stCondLst>
                            <p:childTnLst>
                              <p:par>
                                <p:cTn id="197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1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400"/>
                            </p:stCondLst>
                            <p:childTnLst>
                              <p:par>
                                <p:cTn id="201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1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600"/>
                            </p:stCondLst>
                            <p:childTnLst>
                              <p:par>
                                <p:cTn id="205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1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800"/>
                            </p:stCondLst>
                            <p:childTnLst>
                              <p:par>
                                <p:cTn id="209" presetID="10" presetClass="exit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1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1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1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1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1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1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7" grpId="1" animBg="1"/>
      <p:bldP spid="10" grpId="0" animBg="1"/>
      <p:bldP spid="10" grpId="1" animBg="1"/>
      <p:bldP spid="26" grpId="0"/>
      <p:bldP spid="26" grpId="1"/>
      <p:bldP spid="27" grpId="0"/>
      <p:bldP spid="27" grpId="1"/>
      <p:bldP spid="28" grpId="0"/>
      <p:bldP spid="28" grpId="1"/>
      <p:bldP spid="29" grpId="0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229" y="1647772"/>
            <a:ext cx="4882250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2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Testowanie – Analiza Parametrów </a:t>
            </a:r>
            <a:r>
              <a:rPr lang="pl-PL" sz="2200" b="1" i="1" noProof="1">
                <a:solidFill>
                  <a:srgbClr val="FFFFFF"/>
                </a:solidFill>
                <a:latin typeface="Times New Roman" panose="02020603050405020304" pitchFamily="18" charset="0"/>
              </a:rPr>
              <a:t>r</a:t>
            </a:r>
            <a:r>
              <a:rPr lang="pl-PL" sz="22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 i </a:t>
            </a:r>
            <a:r>
              <a:rPr lang="pl-PL" sz="2200" b="1" i="1" noProof="1">
                <a:solidFill>
                  <a:srgbClr val="FFFFFF"/>
                </a:solidFill>
                <a:latin typeface="Times New Roman" panose="02020603050405020304" pitchFamily="18" charset="0"/>
              </a:rPr>
              <a:t>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D76B55-F62C-726F-865C-E5BB3EAE9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344146"/>
              </p:ext>
            </p:extLst>
          </p:nvPr>
        </p:nvGraphicFramePr>
        <p:xfrm>
          <a:off x="346229" y="2341219"/>
          <a:ext cx="4882251" cy="35482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03255">
                  <a:extLst>
                    <a:ext uri="{9D8B030D-6E8A-4147-A177-3AD203B41FA5}">
                      <a16:colId xmlns:a16="http://schemas.microsoft.com/office/drawing/2014/main" val="3490093651"/>
                    </a:ext>
                  </a:extLst>
                </a:gridCol>
                <a:gridCol w="1303255">
                  <a:extLst>
                    <a:ext uri="{9D8B030D-6E8A-4147-A177-3AD203B41FA5}">
                      <a16:colId xmlns:a16="http://schemas.microsoft.com/office/drawing/2014/main" val="1537417309"/>
                    </a:ext>
                  </a:extLst>
                </a:gridCol>
                <a:gridCol w="2275741">
                  <a:extLst>
                    <a:ext uri="{9D8B030D-6E8A-4147-A177-3AD203B41FA5}">
                      <a16:colId xmlns:a16="http://schemas.microsoft.com/office/drawing/2014/main" val="3463294399"/>
                    </a:ext>
                  </a:extLst>
                </a:gridCol>
              </a:tblGrid>
              <a:tr h="221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Раrаmetry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Wynik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0713803"/>
                  </a:ext>
                </a:extLst>
              </a:tr>
              <a:tr h="443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Mаły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рromień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5,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Bаrdzo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dużo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рunktów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gęsty wzór 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1)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3171940"/>
                  </a:ext>
                </a:extLst>
              </a:tr>
              <a:tr h="443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Duży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рromień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30,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Mаło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рunktów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rzаdki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wzór 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6671983"/>
                  </a:ext>
                </a:extLst>
              </a:tr>
              <a:tr h="665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Mаłe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1400" i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10,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Аlgorytm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końсzy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szybсiej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wzór mniej równomierny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401008"/>
                  </a:ext>
                </a:extLst>
              </a:tr>
              <a:tr h="665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Duże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1400" i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10, </a:t>
                      </a:r>
                      <a:r>
                        <a:rPr lang="pl-PL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Аlgorytm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trwа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dłużej, wzór gęstszy i równomierniejszy 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301694"/>
                  </a:ext>
                </a:extLst>
              </a:tr>
              <a:tr h="665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Szybkość =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iterасje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Рłynnа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аnimасjа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widаć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kаżdy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krok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аlgorytmu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0403074"/>
                  </a:ext>
                </a:extLst>
              </a:tr>
              <a:tr h="443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Szybkość = 200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iterасje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200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Саnvаs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wyрełniа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się 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bаrdzo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szybko (</a:t>
                      </a:r>
                      <a:r>
                        <a:rPr lang="pl-PL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расz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Rysunek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pl-PL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27553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EBD7298-5F8F-A72B-55C7-400EA3F4FBE1}"/>
              </a:ext>
            </a:extLst>
          </p:cNvPr>
          <p:cNvPicPr>
            <a:picLocks/>
          </p:cNvPicPr>
          <p:nvPr/>
        </p:nvPicPr>
        <p:blipFill>
          <a:blip r:embed="rId3"/>
          <a:srcRect l="875" t="1302" r="1886" b="836"/>
          <a:stretch>
            <a:fillRect/>
          </a:stretch>
        </p:blipFill>
        <p:spPr>
          <a:xfrm>
            <a:off x="5343547" y="1647773"/>
            <a:ext cx="2134800" cy="19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08CF3A-C906-C381-BABA-63B3CE901F79}"/>
              </a:ext>
            </a:extLst>
          </p:cNvPr>
          <p:cNvPicPr>
            <a:picLocks/>
          </p:cNvPicPr>
          <p:nvPr/>
        </p:nvPicPr>
        <p:blipFill>
          <a:blip r:embed="rId4"/>
          <a:srcRect l="695" t="1302" r="823" b="1013"/>
          <a:stretch>
            <a:fillRect/>
          </a:stretch>
        </p:blipFill>
        <p:spPr>
          <a:xfrm>
            <a:off x="7513319" y="1647772"/>
            <a:ext cx="2133391" cy="19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FA6BD5-AE2B-135A-6B45-59BF5B8C3918}"/>
              </a:ext>
            </a:extLst>
          </p:cNvPr>
          <p:cNvPicPr>
            <a:picLocks/>
          </p:cNvPicPr>
          <p:nvPr/>
        </p:nvPicPr>
        <p:blipFill>
          <a:blip r:embed="rId5"/>
          <a:srcRect l="758" t="600" r="386" b="135"/>
          <a:stretch>
            <a:fillRect/>
          </a:stretch>
        </p:blipFill>
        <p:spPr>
          <a:xfrm>
            <a:off x="9680276" y="1647773"/>
            <a:ext cx="2134800" cy="19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297F4C-A9D7-C178-B72D-C014C357798D}"/>
              </a:ext>
            </a:extLst>
          </p:cNvPr>
          <p:cNvPicPr>
            <a:picLocks/>
          </p:cNvPicPr>
          <p:nvPr/>
        </p:nvPicPr>
        <p:blipFill>
          <a:blip r:embed="rId6"/>
          <a:srcRect l="1221" t="1443" r="759" b="-6"/>
          <a:stretch>
            <a:fillRect/>
          </a:stretch>
        </p:blipFill>
        <p:spPr>
          <a:xfrm>
            <a:off x="5342179" y="3879799"/>
            <a:ext cx="2134800" cy="20096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4A6607-57C6-4F5A-BBC7-A5422BDE258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19" y="3879799"/>
            <a:ext cx="2132025" cy="20096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88BB74-3E31-5E67-AC71-FE510AEF5B9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428" y="3879799"/>
            <a:ext cx="2107280" cy="200966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91772D1-B04C-6B61-5861-38EE7ABD0CA5}"/>
              </a:ext>
            </a:extLst>
          </p:cNvPr>
          <p:cNvSpPr/>
          <p:nvPr/>
        </p:nvSpPr>
        <p:spPr>
          <a:xfrm>
            <a:off x="5282461" y="1393768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5E963D-673D-E80B-420E-710DC83C1EF1}"/>
              </a:ext>
            </a:extLst>
          </p:cNvPr>
          <p:cNvSpPr/>
          <p:nvPr/>
        </p:nvSpPr>
        <p:spPr>
          <a:xfrm>
            <a:off x="7461987" y="1395597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CECDA1-6807-C5CC-F555-9116C46ED224}"/>
              </a:ext>
            </a:extLst>
          </p:cNvPr>
          <p:cNvSpPr/>
          <p:nvPr/>
        </p:nvSpPr>
        <p:spPr>
          <a:xfrm>
            <a:off x="9591953" y="1395597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EE2134-85B8-3D82-4E6C-2218895F6788}"/>
              </a:ext>
            </a:extLst>
          </p:cNvPr>
          <p:cNvSpPr/>
          <p:nvPr/>
        </p:nvSpPr>
        <p:spPr>
          <a:xfrm>
            <a:off x="5228479" y="5667216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1D970A-D2FE-696A-C0DC-D975EFCE8660}"/>
              </a:ext>
            </a:extLst>
          </p:cNvPr>
          <p:cNvSpPr/>
          <p:nvPr/>
        </p:nvSpPr>
        <p:spPr>
          <a:xfrm>
            <a:off x="7461986" y="5779388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54F8DC-EE44-894C-54BF-B26883DE80EC}"/>
              </a:ext>
            </a:extLst>
          </p:cNvPr>
          <p:cNvSpPr/>
          <p:nvPr/>
        </p:nvSpPr>
        <p:spPr>
          <a:xfrm>
            <a:off x="9680276" y="5779388"/>
            <a:ext cx="343087" cy="334416"/>
          </a:xfrm>
          <a:prstGeom prst="ellipse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A53854F-E241-17DA-D5A4-D0A27E66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229" y="6566703"/>
            <a:ext cx="490193" cy="288093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6F8E2449-AC42-CEFE-4E06-54352EDEA97C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7645" y="1597784"/>
            <a:ext cx="6848856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Poisson Disc Sampling vs Losowe Generowanie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645" y="2313281"/>
            <a:ext cx="5128182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Losowe generowanie: skupiska punktów </a:t>
            </a:r>
            <a:b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</a:b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i duże puste obszary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Poisson Disc Sampling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: równomierny rozkład na całym canvasie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PDS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: żadne dwa punkty nie są bliżej niż 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	</a:t>
            </a:r>
            <a:b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</a:b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r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– gwarantowana minimalna odległość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Lewy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canvas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: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PDS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 </a:t>
            </a:r>
            <a:b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</a:b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Prawy </a:t>
            </a:r>
            <a:r>
              <a:rPr lang="pl-PL" sz="2000" i="1" noProof="1">
                <a:solidFill>
                  <a:srgbClr val="222222"/>
                </a:solidFill>
                <a:latin typeface="Times New Roman" panose="02020603050405020304" pitchFamily="18" charset="0"/>
              </a:rPr>
              <a:t>canvas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: Losowe (max 1000 p</a:t>
            </a:r>
            <a:r>
              <a:rPr lang="en-US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kt.</a:t>
            </a: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304" y="2453013"/>
            <a:ext cx="5984607" cy="32894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79850" y="6309360"/>
            <a:ext cx="36018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l-PL" sz="12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Rys. 18 – PDS (lewo) vs Losowe generowanie (prawo)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36106E-B5EA-335B-1442-B25F5158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7645" y="6576910"/>
            <a:ext cx="461912" cy="253014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CB5040D3-AA09-D007-CCD3-E9083E52EA04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D8349A1-B51B-8A45-25CC-B3EDFD90A03B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228" y="1682496"/>
            <a:ext cx="2011680" cy="658368"/>
          </a:xfrm>
          <a:prstGeom prst="rect">
            <a:avLst/>
          </a:prstGeom>
          <a:solidFill>
            <a:srgbClr val="7B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pl-PL" sz="2600" b="1" noProof="1">
                <a:solidFill>
                  <a:srgbClr val="FFFFFF"/>
                </a:solidFill>
                <a:latin typeface="Times New Roman" panose="02020603050405020304" pitchFamily="18" charset="0"/>
              </a:rPr>
              <a:t>Zakończenie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228" y="2426265"/>
            <a:ext cx="8760079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Program działa prawidłowo i spełnia wszystkie wymagania zadania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Wizualizacja pokazuje algorytm krok po kroku w czasie rzeczywistym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100" noProof="1">
                <a:solidFill>
                  <a:srgbClr val="222222"/>
                </a:solidFill>
                <a:latin typeface="Times New Roman" panose="02020603050405020304" pitchFamily="18" charset="0"/>
              </a:rPr>
              <a:t>Parametry można zmieniać na bieżąco i obserwować efekt natychmiast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228" y="3787275"/>
            <a:ext cx="23968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l-PL" sz="2000" b="1" noProof="1">
                <a:solidFill>
                  <a:srgbClr val="7B0023"/>
                </a:solidFill>
                <a:latin typeface="Times New Roman" panose="02020603050405020304" pitchFamily="18" charset="0"/>
              </a:rPr>
              <a:t>Możliwe ulepszenia: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228" y="4203214"/>
            <a:ext cx="7717664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Eksport wzoru do pliku PNG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Wizualizacja siatki grid podczas działania algorytmu</a:t>
            </a: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000" noProof="1">
                <a:solidFill>
                  <a:srgbClr val="222222"/>
                </a:solidFill>
                <a:latin typeface="Times New Roman" panose="02020603050405020304" pitchFamily="18" charset="0"/>
              </a:rPr>
              <a:t>Rozszerzenie do 3D z użyciem WebGL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BB1F3C-B011-429E-2320-9383DA87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228" y="6575502"/>
            <a:ext cx="473903" cy="27958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809A24F-2458-CAD7-719D-7405BF28CD0A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  <p:bldP spid="5" grpId="0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813D-1B7B-D3E9-17F7-0A4C8621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>
            <a:extLst>
              <a:ext uri="{FF2B5EF4-FFF2-40B4-BE49-F238E27FC236}">
                <a16:creationId xmlns:a16="http://schemas.microsoft.com/office/drawing/2014/main" id="{1D1A601A-2D9F-B9FA-2337-D0CA52FC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D016C0-B37D-744B-5DAF-9D069FD994C4}"/>
              </a:ext>
            </a:extLst>
          </p:cNvPr>
          <p:cNvSpPr txBox="1"/>
          <p:nvPr/>
        </p:nvSpPr>
        <p:spPr>
          <a:xfrm>
            <a:off x="3945445" y="2767280"/>
            <a:ext cx="4297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8000" b="1" noProof="1">
                <a:solidFill>
                  <a:srgbClr val="7B0023"/>
                </a:solidFill>
                <a:latin typeface="Times New Roman" panose="02020603050405020304" pitchFamily="18" charset="0"/>
              </a:rPr>
              <a:t>Pytania?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20CE1-53D5-45B4-62A6-1BA75AFC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787" y="6604986"/>
            <a:ext cx="499620" cy="253014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CA6D79F6-2313-6315-F1DE-0225E938485A}"/>
              </a:ext>
            </a:extLst>
          </p:cNvPr>
          <p:cNvSpPr txBox="1">
            <a:spLocks/>
          </p:cNvSpPr>
          <p:nvPr/>
        </p:nvSpPr>
        <p:spPr>
          <a:xfrm>
            <a:off x="346228" y="6575502"/>
            <a:ext cx="473903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398F1FF-6FA9-D601-0C68-FE9996852D5B}"/>
              </a:ext>
            </a:extLst>
          </p:cNvPr>
          <p:cNvSpPr txBox="1">
            <a:spLocks/>
          </p:cNvSpPr>
          <p:nvPr/>
        </p:nvSpPr>
        <p:spPr>
          <a:xfrm>
            <a:off x="263951" y="6578415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F643B88-02CD-8C8A-5C48-6703FF5DFA21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1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2026-03-22_2058438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81060" y="1573643"/>
            <a:ext cx="464261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l-PL" sz="4200" b="1" noProof="1">
                <a:solidFill>
                  <a:srgbClr val="7B0023"/>
                </a:solidFill>
                <a:latin typeface="Times New Roman" panose="02020603050405020304" pitchFamily="18" charset="0"/>
              </a:rPr>
              <a:t>Dziękuję za uwagę!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3241" y="2442323"/>
            <a:ext cx="67255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l-PL" sz="1400" i="1" noProof="1">
                <a:solidFill>
                  <a:srgbClr val="555555"/>
                </a:solidFill>
                <a:latin typeface="Times New Roman" panose="02020603050405020304" pitchFamily="18" charset="0"/>
              </a:rPr>
              <a:t>https://github.com/TadeuszII/Projekt-M-I-–Wizualizacja-i-Animacja-Poisson-disc-sampling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D80106-810A-D050-72C6-6B01E821C103}"/>
              </a:ext>
            </a:extLst>
          </p:cNvPr>
          <p:cNvSpPr/>
          <p:nvPr/>
        </p:nvSpPr>
        <p:spPr>
          <a:xfrm>
            <a:off x="2731632" y="2880116"/>
            <a:ext cx="6725559" cy="591128"/>
          </a:xfrm>
          <a:prstGeom prst="rect">
            <a:avLst/>
          </a:prstGeom>
          <a:solidFill>
            <a:srgbClr val="9800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 Poisson Disk Sampling in Arbitrary Dimensions </a:t>
            </a:r>
            <a:r>
              <a:rPr lang="pl-PL" dirty="0">
                <a:solidFill>
                  <a:schemeClr val="bg1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– </a:t>
            </a:r>
            <a:r>
              <a:rPr lang="en-US" dirty="0">
                <a:solidFill>
                  <a:schemeClr val="bg1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 Bridson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EE41F-CB47-887D-1F9A-78436FFD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3951" y="6578415"/>
            <a:ext cx="527900" cy="27958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4B8B27-2FA6-0FEA-0468-F560A593E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9275" y="3579096"/>
            <a:ext cx="6172200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E819A38-83BB-46D1-709F-D4AAB297200F}"/>
              </a:ext>
            </a:extLst>
          </p:cNvPr>
          <p:cNvSpPr txBox="1">
            <a:spLocks/>
          </p:cNvSpPr>
          <p:nvPr/>
        </p:nvSpPr>
        <p:spPr>
          <a:xfrm>
            <a:off x="346228" y="6572589"/>
            <a:ext cx="527900" cy="279585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931</Words>
  <Application>Microsoft Office PowerPoint</Application>
  <PresentationFormat>Custom</PresentationFormat>
  <Paragraphs>159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Cambria Math</vt:lpstr>
      <vt:lpstr>Cascadia Code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Tadeusz Żukowski</dc:creator>
  <cp:keywords/>
  <dc:description>generated using python-pptx</dc:description>
  <cp:lastModifiedBy>Tadeuš Žukovskij</cp:lastModifiedBy>
  <cp:revision>23</cp:revision>
  <dcterms:created xsi:type="dcterms:W3CDTF">2013-01-27T09:14:16Z</dcterms:created>
  <dcterms:modified xsi:type="dcterms:W3CDTF">2026-05-18T12:56:31Z</dcterms:modified>
  <cp:category/>
</cp:coreProperties>
</file>