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  <p:sldId id="26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adek Manak" initials="RM" lastIdx="1" clrIdx="0">
    <p:extLst>
      <p:ext uri="{19B8F6BF-5375-455C-9EA6-DF929625EA0E}">
        <p15:presenceInfo xmlns:p15="http://schemas.microsoft.com/office/powerpoint/2012/main" userId="fe8489cedc84d430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4" d="100"/>
          <a:sy n="94" d="100"/>
        </p:scale>
        <p:origin x="231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11-27T07:46:04.916" idx="1">
    <p:pos x="10" y="10"/>
    <p:text/>
    <p:extLst>
      <p:ext uri="{C676402C-5697-4E1C-873F-D02D1690AC5C}">
        <p15:threadingInfo xmlns:p15="http://schemas.microsoft.com/office/powerpoint/2012/main" timeZoneBias="-12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EF49CF-84E9-47C1-ACAA-5FF36201E2BA}" type="datetimeFigureOut">
              <a:rPr lang="en-US" smtClean="0"/>
              <a:t>2026-06-13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8FAFBD-C38C-4F10-A04C-4E71592EF8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93324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Mam na imię Radosław, jestem studentem drugiego roku, kierunku informatyki w tym uniwersytecie, dzisiaj chcę pokazać mój projekt dotyczący Dywanu Sierpińskiego.</a:t>
            </a:r>
            <a:br>
              <a:rPr lang="pl-PL" dirty="0"/>
            </a:br>
            <a:r>
              <a:rPr lang="pl-PL" dirty="0"/>
              <a:t>Jest to fraktal, czyli taki matematyczny wzór, który powtarza swój kształt w coraz mniejszej skali.</a:t>
            </a:r>
            <a:br>
              <a:rPr lang="pl-PL" dirty="0"/>
            </a:br>
            <a:r>
              <a:rPr lang="pl-PL" dirty="0"/>
              <a:t>Projekt zrobiłem jako wizualizację działania rekurencji i generowania grafiki przy pomocy języka JavaScript.”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8FAFBD-C38C-4F10-A04C-4E71592EF8B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44705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„Wybrałem ten temat, ponieważ fraktale wyglądają ciekawie wizualnie, a jednocześnie pokazują zastosowanie matematyki w programowaniu i grafice komputerowej.</a:t>
            </a:r>
            <a:br>
              <a:rPr lang="pl-PL" dirty="0"/>
            </a:br>
            <a:r>
              <a:rPr lang="pl-PL" dirty="0"/>
              <a:t>Chciałem zrobić aplikację, która będzie generowała tą wizualizację automatycznie i dodatkowo pozwoli użytkownikowi sterować animacją oraz liczbą iteracji.</a:t>
            </a:r>
          </a:p>
          <a:p>
            <a:r>
              <a:rPr lang="pl-PL" dirty="0"/>
              <a:t>Projekt pokazuje też działanie rekurencji, czyli funkcji, która wywołuje samą siebie. Dzięki temu można tworzyć bardzo skomplikowane wzory przy użyciu prostego algorytmu.”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8FAFBD-C38C-4F10-A04C-4E71592EF8B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75292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„Cały pomysł działania jest dosyć prosty.</a:t>
            </a:r>
            <a:br>
              <a:rPr lang="pl-PL" dirty="0"/>
            </a:br>
            <a:r>
              <a:rPr lang="pl-PL" dirty="0"/>
              <a:t>Na początku mamy jeden duży kwadrat. Następnie dodajemy siatkę 3 na 3 i pomijamy środkowy element.</a:t>
            </a:r>
            <a:br>
              <a:rPr lang="pl-PL" dirty="0"/>
            </a:br>
            <a:r>
              <a:rPr lang="pl-PL" dirty="0"/>
              <a:t>Potem ten sam proces powtarzamy dla każdego z pozostałych ośmiu kwadratów.</a:t>
            </a:r>
          </a:p>
          <a:p>
            <a:r>
              <a:rPr lang="pl-PL" dirty="0"/>
              <a:t>Po każdej iteracji wzór robi się coraz bardziej szczegółowy i zaczyna przypominać charakterystyczny Dywan Sierpińskiego.”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8FAFBD-C38C-4F10-A04C-4E71592EF8B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92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„Tutaj widać uproszczony pseudokod działania programu.</a:t>
            </a:r>
            <a:br>
              <a:rPr lang="pl-PL" dirty="0"/>
            </a:br>
            <a:r>
              <a:rPr lang="pl-PL" dirty="0"/>
              <a:t>Najważniejsza jest funkcja drawCarpet, która działa rekurencyjnie.</a:t>
            </a:r>
          </a:p>
          <a:p>
            <a:r>
              <a:rPr lang="pl-PL" dirty="0"/>
              <a:t>Najpierw sprawdzany jest warunek końca rekurencji, czyli czy osiągnięte jest zero.</a:t>
            </a:r>
            <a:br>
              <a:rPr lang="pl-PL" dirty="0"/>
            </a:br>
            <a:r>
              <a:rPr lang="pl-PL" dirty="0"/>
              <a:t>Jeżeli nie, program oblicza nowy rozmiar kwadratów, pomija środkowy element i wywołuje tę samą funkcję dla pozostałych części.</a:t>
            </a:r>
          </a:p>
          <a:p>
            <a:r>
              <a:rPr lang="pl-PL" dirty="0"/>
              <a:t>I właśnie dzięki temu powstaje cały fraktal.”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8FAFBD-C38C-4F10-A04C-4E71592EF8B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2701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„Problem w tym algorytmie jest taki, że liczba elementów bardzo szybko rośnie.</a:t>
            </a:r>
            <a:br>
              <a:rPr lang="pl-PL" dirty="0"/>
            </a:br>
            <a:r>
              <a:rPr lang="pl-PL" dirty="0"/>
              <a:t>Każda iteracja tworzy kolejne osiem nowych obszarów, więc złożoność jest wykładnicza.</a:t>
            </a:r>
          </a:p>
          <a:p>
            <a:r>
              <a:rPr lang="pl-PL" dirty="0"/>
              <a:t>Przy małej liczbie iteracji program działa bardzo szybko, ale przy większych wartościach komputer musi wykonywać coraz więcej operacji rysowania.</a:t>
            </a:r>
          </a:p>
          <a:p>
            <a:r>
              <a:rPr lang="pl-PL" dirty="0"/>
              <a:t>Dlatego w projekcie ograniczyłem maksymalną liczbę iteracji do sześciu, żeby animacja byłaby czytelna.”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8FAFBD-C38C-4F10-A04C-4E71592EF8B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391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„W aplikacji dodałem możliwość sterowania parametrami programu.</a:t>
            </a:r>
            <a:br>
              <a:rPr lang="pl-PL" dirty="0"/>
            </a:br>
            <a:r>
              <a:rPr lang="pl-PL" dirty="0"/>
              <a:t>Użytkownik może ustawić liczbę iteracji przy pomocy suwaka oraz zmienić prędkość animacji.</a:t>
            </a:r>
          </a:p>
          <a:p>
            <a:r>
              <a:rPr lang="pl-PL" dirty="0"/>
              <a:t>Są też przyciski:</a:t>
            </a:r>
          </a:p>
          <a:p>
            <a:r>
              <a:rPr lang="pl-PL" dirty="0"/>
              <a:t>Generuj — rysuje cały fraktal od razu, </a:t>
            </a:r>
          </a:p>
          <a:p>
            <a:r>
              <a:rPr lang="pl-PL" dirty="0"/>
              <a:t>Start — uruchamia animację krok po kroku, </a:t>
            </a:r>
          </a:p>
          <a:p>
            <a:r>
              <a:rPr lang="pl-PL" dirty="0"/>
              <a:t>Stop — zatrzymuje animację, </a:t>
            </a:r>
          </a:p>
          <a:p>
            <a:r>
              <a:rPr lang="pl-PL" dirty="0"/>
              <a:t>Reset — czyści ekran i resetuje program. </a:t>
            </a:r>
          </a:p>
          <a:p>
            <a:r>
              <a:rPr lang="pl-PL" dirty="0"/>
              <a:t>Aktualna iteracja jest też wyświetlana na ekranie.”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8FAFBD-C38C-4F10-A04C-4E71592EF8B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3770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„Tutaj widać gotowy program.</a:t>
            </a:r>
          </a:p>
          <a:p>
            <a:r>
              <a:rPr lang="pl-PL" dirty="0"/>
              <a:t>Projekt został wykonany przy użyciu:</a:t>
            </a:r>
          </a:p>
          <a:p>
            <a:r>
              <a:rPr lang="pl-PL" dirty="0"/>
              <a:t>HTML, który odpowiada za strukturę strony, </a:t>
            </a:r>
          </a:p>
          <a:p>
            <a:r>
              <a:rPr lang="pl-PL" dirty="0"/>
              <a:t>CSS do wyglądu interfejsu, </a:t>
            </a:r>
          </a:p>
          <a:p>
            <a:r>
              <a:rPr lang="pl-PL" dirty="0"/>
              <a:t>JavaScriptu, który odpowiada za logikę programu i rysowanie wizualizacji. </a:t>
            </a:r>
          </a:p>
          <a:p>
            <a:r>
              <a:rPr lang="pl-PL" dirty="0"/>
              <a:t>Do generowania grafiki użyłem elementu canvas oraz kontekstu 2D.</a:t>
            </a:r>
            <a:br>
              <a:rPr lang="pl-PL" dirty="0"/>
            </a:br>
            <a:r>
              <a:rPr lang="pl-PL" dirty="0"/>
              <a:t>Cały algorytm rekurencyjny znajduje się w pliku JavaScript.”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8FAFBD-C38C-4F10-A04C-4E71592EF8B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27858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„Teraz pokażę działanie programu na żywo.</a:t>
            </a:r>
          </a:p>
          <a:p>
            <a:r>
              <a:rPr lang="pl-PL" dirty="0"/>
              <a:t>Można zobaczyć, jak z każdą iteracją pojawia się coraz więcej małych kwadratów i wzór robi się coraz bardziej szczegółowy.”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8FAFBD-C38C-4F10-A04C-4E71592EF8B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6068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„Podsumowując, projekt pokazuje praktyczne zastosowanie rekurencji i grafiki komputerowej.</a:t>
            </a:r>
            <a:br>
              <a:rPr lang="pl-PL" dirty="0"/>
            </a:br>
            <a:r>
              <a:rPr lang="pl-PL" dirty="0"/>
              <a:t>Mimo że algorytm jest dosyć prosty, pozwala tworzyć bardzo ciekawą wizualizację.</a:t>
            </a:r>
          </a:p>
          <a:p>
            <a:r>
              <a:rPr lang="pl-PL" dirty="0"/>
              <a:t>Największe zalety projektu to:</a:t>
            </a:r>
          </a:p>
          <a:p>
            <a:r>
              <a:rPr lang="pl-PL" dirty="0"/>
              <a:t>prosty mechanizm działania, </a:t>
            </a:r>
          </a:p>
          <a:p>
            <a:r>
              <a:rPr lang="pl-PL" dirty="0"/>
              <a:t>możliwość interakcji, </a:t>
            </a:r>
          </a:p>
          <a:p>
            <a:r>
              <a:rPr lang="pl-PL" dirty="0"/>
              <a:t>wizualizacja matematyki w praktyce. </a:t>
            </a:r>
          </a:p>
          <a:p>
            <a:r>
              <a:rPr lang="pl-PL" dirty="0"/>
              <a:t>Minusem jest rosnąca złożoność przy większej liczbie iteracji.</a:t>
            </a:r>
          </a:p>
          <a:p>
            <a:r>
              <a:rPr lang="pl-PL" dirty="0"/>
              <a:t>Projekt można dalej rozwijać, na przykład dodając inne fraktale, kolory albo bardziej zaawansowane animacje.”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8FAFBD-C38C-4F10-A04C-4E71592EF8B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2955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7EC66-EC63-4388-BD1A-758AB435AE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3F0E401-C3E9-4CA4-94DD-FCBC527942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C64BB8-1B1C-42C8-8AE2-D4636724CA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5F44A-679D-4C76-9880-96513605D7FB}" type="datetimeFigureOut">
              <a:rPr lang="en-US" smtClean="0"/>
              <a:t>2026-06-13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19E7FB-AC53-4496-A019-B52232F1EF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59FDFF-152F-472E-8AC6-AA10D63584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4322C-27DC-49FF-9B43-5EAA37331A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5984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5C82B-28B3-4AFC-A514-9D7B5CBE36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767AD-9EF9-44D2-8668-722C0E2E23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B10D59-06C5-427A-B872-9C4CF1C5D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5F44A-679D-4C76-9880-96513605D7FB}" type="datetimeFigureOut">
              <a:rPr lang="en-US" smtClean="0"/>
              <a:t>2026-06-13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F2AF8-69B1-4B7A-A5A2-4A5990D08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A25FFD-D074-4012-AF65-4DD042BBAC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4322C-27DC-49FF-9B43-5EAA37331A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8279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0DBD02-F19A-430A-81C6-0FD73593F2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9FC060-4876-4596-9A12-1A9FE036A4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DB680C-075B-445E-B417-20D5BFD572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5F44A-679D-4C76-9880-96513605D7FB}" type="datetimeFigureOut">
              <a:rPr lang="en-US" smtClean="0"/>
              <a:t>2026-06-13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D5D1D6-B9E4-4BDA-AA4C-32D039862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DC70B7-3A79-4858-9726-EAC0371A54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4322C-27DC-49FF-9B43-5EAA37331A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7773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101DE-9D38-4BA9-925E-702D95ACD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274549-8D08-4107-B042-5DD21F9BEA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5F446C-9FC0-4F18-82E6-E79DEEB173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657358-0714-4EAD-B258-7CB2FC98FD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5F44A-679D-4C76-9880-96513605D7FB}" type="datetimeFigureOut">
              <a:rPr lang="en-US" smtClean="0"/>
              <a:t>2026-06-13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C2086C-26E1-456B-9036-C14240F22F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AA9D0A-0941-4FBC-98A6-DA3193EBA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4322C-27DC-49FF-9B43-5EAA37331A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5133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CBE753-4688-4E0D-83D4-E4781CE745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106D00-E125-4F3C-9070-C579E3E610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A07014-D199-4E68-B28E-0B148F586F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01AE20-ACB6-4DB1-B15E-B0A7EFDABD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668FEB-E895-48B6-A4D5-08CE6E5B27D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166187F-4D10-427E-91AA-3C687ECCC8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5F44A-679D-4C76-9880-96513605D7FB}" type="datetimeFigureOut">
              <a:rPr lang="en-US" smtClean="0"/>
              <a:t>2026-06-13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C79889-2182-4292-ABA3-D92DD3ED3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E4B34BF-2541-42E6-BE50-D364D845F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4322C-27DC-49FF-9B43-5EAA37331A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9338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7892B-7055-4DAD-BE38-466BFAEFE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5BE51D-3FB1-490C-ABFA-EB8B9E040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5F44A-679D-4C76-9880-96513605D7FB}" type="datetimeFigureOut">
              <a:rPr lang="en-US" smtClean="0"/>
              <a:t>2026-06-13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82256AB-9E66-4B62-95AA-B08E1812BB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66BEDF-A29C-42B5-B4BD-8B8A28171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4322C-27DC-49FF-9B43-5EAA37331A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10259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CCFD9EE-7908-4B2D-A090-32EEC74D20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5F44A-679D-4C76-9880-96513605D7FB}" type="datetimeFigureOut">
              <a:rPr lang="en-US" smtClean="0"/>
              <a:t>2026-06-13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AC5252A-DA63-4D63-8B14-9007E21BD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AAA35A-8EB2-4B57-AF9B-597054C79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4322C-27DC-49FF-9B43-5EAA37331A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7902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EBA1C-72FF-41D1-BFEF-2D0682E5A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474468-7ED3-4373-B759-DF491E0A97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29F026-DD35-4B55-96B2-4532B564C5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0144A1-144A-4787-87ED-3F03659A89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5F44A-679D-4C76-9880-96513605D7FB}" type="datetimeFigureOut">
              <a:rPr lang="en-US" smtClean="0"/>
              <a:t>2026-06-13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B7DEA8-DB78-4F8D-A810-45E7F8BCBF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01BF46-C206-4773-AEA3-C48A282D99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4322C-27DC-49FF-9B43-5EAA37331A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7786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550215-B332-495F-9D73-E83A4CDB7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9BE6F93-5BCC-4DC1-BC1D-25745514BA2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6184FB-0AB0-4EC6-B8EE-BDC9DE0849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48CCB2-9ADE-4AAD-94B9-9D3E3EA168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5F44A-679D-4C76-9880-96513605D7FB}" type="datetimeFigureOut">
              <a:rPr lang="en-US" smtClean="0"/>
              <a:t>2026-06-13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2A321A-1F00-4B60-BA4C-04394BC8A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15E471-0288-4C43-93B9-0CC8E1F0B2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4322C-27DC-49FF-9B43-5EAA37331A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4542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72158E-9A79-494B-B8F9-FFC25FAD7E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4D49E9-D156-49CB-91CE-04F51176E0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26B5FF-25DB-42BE-963C-FD26D9767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5F44A-679D-4C76-9880-96513605D7FB}" type="datetimeFigureOut">
              <a:rPr lang="en-US" smtClean="0"/>
              <a:t>2026-06-13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60FBF4-0941-43AF-9090-5EA9E62340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F3A431-E571-4C4F-8A4D-B3F6B0E2E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4322C-27DC-49FF-9B43-5EAA37331A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1588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5B28817-16EF-4E8E-B061-E42AF947A1E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46C048-2BFF-40CC-BD74-FC52C0ADE3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A46988-CEDE-46C1-A7F8-F45E6C428B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5F44A-679D-4C76-9880-96513605D7FB}" type="datetimeFigureOut">
              <a:rPr lang="en-US" smtClean="0"/>
              <a:t>2026-06-13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8C4891-AB47-4ED8-B564-1E4F992664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35D7BF-F713-4B09-9B36-FF56482334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4322C-27DC-49FF-9B43-5EAA37331A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70744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453AF00-D8BA-43DD-ADCC-A654D4011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5A1480-AB60-4F47-ABD9-41E2F272F7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C8ACB5-5F13-4703-A17C-08A77EFCFD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F5F44A-679D-4C76-9880-96513605D7FB}" type="datetimeFigureOut">
              <a:rPr lang="en-US" smtClean="0"/>
              <a:t>2026-06-13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2E785-3600-41C5-9869-D4F8997A420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248B90-927A-4477-BFB8-8B32B14C2A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44322C-27DC-49FF-9B43-5EAA37331A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5434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comments" Target="../comments/commen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5A38C25-1DDA-406D-BFA2-CDF88B6743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1172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BBB52EB-F35A-45BB-AE43-DB7A93411CDC}"/>
              </a:ext>
            </a:extLst>
          </p:cNvPr>
          <p:cNvSpPr txBox="1"/>
          <p:nvPr/>
        </p:nvSpPr>
        <p:spPr>
          <a:xfrm>
            <a:off x="4459532" y="2259092"/>
            <a:ext cx="39129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 err="1"/>
              <a:t>Dywan</a:t>
            </a:r>
            <a:r>
              <a:rPr lang="en-US" sz="2000" b="1" dirty="0"/>
              <a:t> </a:t>
            </a:r>
            <a:r>
              <a:rPr lang="en-US" sz="2000" b="1" dirty="0" err="1"/>
              <a:t>Sierpińskiego</a:t>
            </a:r>
            <a:r>
              <a:rPr lang="en-US" sz="2000" b="1" dirty="0"/>
              <a:t> – </a:t>
            </a:r>
            <a:r>
              <a:rPr lang="en-US" sz="2000" b="1" dirty="0" err="1"/>
              <a:t>wizualizacja</a:t>
            </a:r>
            <a:endParaRPr lang="en-US" sz="20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B05DC6-B1D4-499E-926D-ED9ACDCDD083}"/>
              </a:ext>
            </a:extLst>
          </p:cNvPr>
          <p:cNvSpPr txBox="1"/>
          <p:nvPr/>
        </p:nvSpPr>
        <p:spPr>
          <a:xfrm>
            <a:off x="5409345" y="3059668"/>
            <a:ext cx="201330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000" b="1" dirty="0"/>
              <a:t>Radosław Manak</a:t>
            </a:r>
            <a:endParaRPr lang="en-US" sz="20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291331-F110-43EB-B6C1-ED2D9222EA5F}"/>
              </a:ext>
            </a:extLst>
          </p:cNvPr>
          <p:cNvSpPr txBox="1"/>
          <p:nvPr/>
        </p:nvSpPr>
        <p:spPr>
          <a:xfrm>
            <a:off x="5375233" y="3973592"/>
            <a:ext cx="20815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000" b="1" dirty="0"/>
              <a:t>Informatyka 2 rok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08FEF2-B80F-4844-9744-A481C46B9A0A}"/>
              </a:ext>
            </a:extLst>
          </p:cNvPr>
          <p:cNvSpPr txBox="1"/>
          <p:nvPr/>
        </p:nvSpPr>
        <p:spPr>
          <a:xfrm>
            <a:off x="5725745" y="5751116"/>
            <a:ext cx="13805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000" b="1" dirty="0"/>
              <a:t>2026-03-27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34765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5A38C25-1DDA-406D-BFA2-CDF88B6743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4" y="0"/>
            <a:ext cx="12181172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46D2019-C28E-40F0-9D54-9584FBF89AC3}"/>
              </a:ext>
            </a:extLst>
          </p:cNvPr>
          <p:cNvSpPr txBox="1"/>
          <p:nvPr/>
        </p:nvSpPr>
        <p:spPr>
          <a:xfrm>
            <a:off x="3718233" y="2459504"/>
            <a:ext cx="475553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l-PL" sz="2400" dirty="0"/>
              <a:t>Motywacja i problem</a:t>
            </a:r>
          </a:p>
          <a:p>
            <a:endParaRPr lang="pl-P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/>
              <a:t>Wizualizacje są ważne w matematyce i grafice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/>
              <a:t>Pokazują samopodobieństwo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/>
              <a:t>Można je generować algorytmicznie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/>
              <a:t>Projekt pokazuje zastosowanie rekurencji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75943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5A38C25-1DDA-406D-BFA2-CDF88B6743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4" y="10160"/>
            <a:ext cx="12181172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F49BE01-2C8E-44AE-BE05-0D42B91690D4}"/>
              </a:ext>
            </a:extLst>
          </p:cNvPr>
          <p:cNvSpPr txBox="1"/>
          <p:nvPr/>
        </p:nvSpPr>
        <p:spPr>
          <a:xfrm>
            <a:off x="1477241" y="2228671"/>
            <a:ext cx="923751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2400" dirty="0"/>
              <a:t>Intuicja / idea</a:t>
            </a:r>
            <a:endParaRPr lang="en-US" sz="2400" dirty="0"/>
          </a:p>
          <a:p>
            <a:pPr algn="ctr"/>
            <a:endParaRPr lang="pl-P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/>
              <a:t>Podział kwadratu na siatkę 3x3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Usuwanie</a:t>
            </a:r>
            <a:r>
              <a:rPr lang="en-US" dirty="0"/>
              <a:t> </a:t>
            </a:r>
            <a:r>
              <a:rPr lang="pl-PL" dirty="0"/>
              <a:t>środkowej części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/>
              <a:t>Powtarzanie procesu dla pozostałych części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/>
              <a:t>Kolejne iteracje tworzą wizualizacja</a:t>
            </a:r>
          </a:p>
        </p:txBody>
      </p:sp>
    </p:spTree>
    <p:extLst>
      <p:ext uri="{BB962C8B-B14F-4D97-AF65-F5344CB8AC3E}">
        <p14:creationId xmlns:p14="http://schemas.microsoft.com/office/powerpoint/2010/main" val="6413195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5A38C25-1DDA-406D-BFA2-CDF88B6743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28" y="0"/>
            <a:ext cx="12181172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0ED160F-1846-426C-934E-19FA9C02BF8C}"/>
              </a:ext>
            </a:extLst>
          </p:cNvPr>
          <p:cNvSpPr txBox="1"/>
          <p:nvPr/>
        </p:nvSpPr>
        <p:spPr>
          <a:xfrm>
            <a:off x="2461260" y="1549628"/>
            <a:ext cx="72694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2400" dirty="0"/>
              <a:t>Pseudokod</a:t>
            </a:r>
            <a:endParaRPr lang="en-US" sz="2400" dirty="0"/>
          </a:p>
          <a:p>
            <a:pPr algn="ctr"/>
            <a:endParaRPr lang="pl-PL" sz="2400" dirty="0"/>
          </a:p>
          <a:p>
            <a:r>
              <a:rPr lang="pl-PL" sz="2400" dirty="0"/>
              <a:t>drawCarpet(x, y, size, depth):</a:t>
            </a:r>
          </a:p>
          <a:p>
            <a:r>
              <a:rPr lang="pl-PL" sz="2400" dirty="0"/>
              <a:t>  if depth == 0:</a:t>
            </a:r>
          </a:p>
          <a:p>
            <a:r>
              <a:rPr lang="pl-PL" sz="2400" dirty="0"/>
              <a:t>    return</a:t>
            </a:r>
          </a:p>
          <a:p>
            <a:endParaRPr lang="pl-PL" sz="2400" dirty="0"/>
          </a:p>
          <a:p>
            <a:r>
              <a:rPr lang="pl-PL" sz="2400" dirty="0"/>
              <a:t>  newSize = size / 3</a:t>
            </a:r>
          </a:p>
          <a:p>
            <a:endParaRPr lang="pl-PL" sz="2400" dirty="0"/>
          </a:p>
          <a:p>
            <a:r>
              <a:rPr lang="pl-PL" sz="2400" dirty="0"/>
              <a:t>  usuń środkowy kwadrat</a:t>
            </a:r>
          </a:p>
          <a:p>
            <a:endParaRPr lang="pl-PL" sz="2400" dirty="0"/>
          </a:p>
          <a:p>
            <a:r>
              <a:rPr lang="pl-PL" sz="2400" dirty="0"/>
              <a:t>  dla każdego z 8 pozostałych:</a:t>
            </a:r>
          </a:p>
          <a:p>
            <a:r>
              <a:rPr lang="pl-PL" sz="2400" dirty="0"/>
              <a:t>    drawCarpet(..., depth - 1)</a:t>
            </a:r>
          </a:p>
        </p:txBody>
      </p:sp>
    </p:spTree>
    <p:extLst>
      <p:ext uri="{BB962C8B-B14F-4D97-AF65-F5344CB8AC3E}">
        <p14:creationId xmlns:p14="http://schemas.microsoft.com/office/powerpoint/2010/main" val="6143510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5A38C25-1DDA-406D-BFA2-CDF88B6743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4" y="0"/>
            <a:ext cx="12181172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E748D9F-0630-4D0B-9A9F-CB55E88E76DE}"/>
              </a:ext>
            </a:extLst>
          </p:cNvPr>
          <p:cNvSpPr txBox="1"/>
          <p:nvPr/>
        </p:nvSpPr>
        <p:spPr>
          <a:xfrm>
            <a:off x="2264352" y="2464610"/>
            <a:ext cx="7663296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2400" dirty="0"/>
              <a:t>Złożoności</a:t>
            </a:r>
            <a:endParaRPr lang="pl-PL" dirty="0"/>
          </a:p>
          <a:p>
            <a:endParaRPr lang="pl-PL" dirty="0"/>
          </a:p>
          <a:p>
            <a:r>
              <a:rPr lang="pl-PL" dirty="0"/>
              <a:t>Złożoność rośnie wykładniczo:</a:t>
            </a:r>
          </a:p>
          <a:p>
            <a:r>
              <a:rPr lang="pl-PL" dirty="0"/>
              <a:t>Liczba elementów ~ 8^n </a:t>
            </a:r>
          </a:p>
          <a:p>
            <a:r>
              <a:rPr lang="pl-PL" dirty="0"/>
              <a:t>Każda iteracja zwiększa szczegółowość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9093814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5A38C25-1DDA-406D-BFA2-CDF88B6743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4" y="0"/>
            <a:ext cx="12181172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22F7EB2-2BC0-45A6-924A-A628569AE3B6}"/>
              </a:ext>
            </a:extLst>
          </p:cNvPr>
          <p:cNvSpPr txBox="1"/>
          <p:nvPr/>
        </p:nvSpPr>
        <p:spPr>
          <a:xfrm>
            <a:off x="1794586" y="2056565"/>
            <a:ext cx="2203295" cy="33239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l-PL" sz="2400" dirty="0"/>
              <a:t>Parametry</a:t>
            </a:r>
            <a:endParaRPr lang="en-US" sz="2400" dirty="0"/>
          </a:p>
          <a:p>
            <a:pPr algn="ctr"/>
            <a:endParaRPr lang="pl-PL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/>
              <a:t>L</a:t>
            </a:r>
            <a:r>
              <a:rPr lang="en-US" dirty="0" err="1"/>
              <a:t>iczba</a:t>
            </a:r>
            <a:r>
              <a:rPr lang="en-US" dirty="0"/>
              <a:t> </a:t>
            </a:r>
            <a:r>
              <a:rPr lang="en-US" dirty="0" err="1"/>
              <a:t>iteracji</a:t>
            </a:r>
            <a:r>
              <a:rPr lang="en-U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/>
              <a:t>P</a:t>
            </a:r>
            <a:r>
              <a:rPr lang="en-US" dirty="0" err="1"/>
              <a:t>rędkość</a:t>
            </a:r>
            <a:r>
              <a:rPr lang="en-US" dirty="0"/>
              <a:t> </a:t>
            </a:r>
            <a:r>
              <a:rPr lang="en-US" dirty="0" err="1"/>
              <a:t>animacji</a:t>
            </a:r>
            <a:r>
              <a:rPr lang="en-US" dirty="0"/>
              <a:t> </a:t>
            </a:r>
          </a:p>
          <a:p>
            <a:endParaRPr lang="en-US" dirty="0"/>
          </a:p>
          <a:p>
            <a:pPr algn="ctr"/>
            <a:r>
              <a:rPr lang="en-US" sz="2400" dirty="0" err="1"/>
              <a:t>Sterowanie</a:t>
            </a:r>
            <a:endParaRPr lang="en-US" sz="2400" dirty="0"/>
          </a:p>
          <a:p>
            <a:pPr algn="ctr"/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Start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Stop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Reset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Generuj</a:t>
            </a:r>
            <a:r>
              <a:rPr lang="en-US" dirty="0"/>
              <a:t>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5089D30-8B2D-4015-A047-45D6161EDD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7133" y="3123241"/>
            <a:ext cx="5110200" cy="1190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1898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5A38C25-1DDA-406D-BFA2-CDF88B6743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28" y="0"/>
            <a:ext cx="12181172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810AD77-43C4-4192-9C1D-1B5BC637E9BD}"/>
              </a:ext>
            </a:extLst>
          </p:cNvPr>
          <p:cNvSpPr txBox="1"/>
          <p:nvPr/>
        </p:nvSpPr>
        <p:spPr>
          <a:xfrm>
            <a:off x="4265273" y="1620520"/>
            <a:ext cx="36614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Wygl</a:t>
            </a:r>
            <a:r>
              <a:rPr lang="pl-PL" sz="2400" dirty="0"/>
              <a:t>ąd interfejs</a:t>
            </a:r>
            <a:r>
              <a:rPr lang="en-US" sz="2400" dirty="0"/>
              <a:t>u</a:t>
            </a:r>
            <a:r>
              <a:rPr lang="pl-PL" sz="2400" dirty="0"/>
              <a:t> programu</a:t>
            </a:r>
            <a:endParaRPr lang="en-US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5711CDE-9426-4971-8D65-30DBCC582F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2219" y="2371452"/>
            <a:ext cx="7147560" cy="352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16798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5A38C25-1DDA-406D-BFA2-CDF88B6743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1172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2D673F6-80F0-48C6-B74D-29C01F1FBBA5}"/>
              </a:ext>
            </a:extLst>
          </p:cNvPr>
          <p:cNvSpPr txBox="1"/>
          <p:nvPr/>
        </p:nvSpPr>
        <p:spPr>
          <a:xfrm>
            <a:off x="5628564" y="1615440"/>
            <a:ext cx="9348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400" dirty="0"/>
              <a:t>Demo</a:t>
            </a:r>
            <a:endParaRPr lang="en-US" sz="2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D69E215-79C7-444C-A76F-6D988296FF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1880" y="2202822"/>
            <a:ext cx="3645169" cy="368489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CB404B2-2315-496C-9119-40FD5A69ED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4951" y="2203035"/>
            <a:ext cx="3645170" cy="3684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7391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5A38C25-1DDA-406D-BFA2-CDF88B6743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4" y="0"/>
            <a:ext cx="12181172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27E6568-5E2D-43FF-BF28-5A609A5797DE}"/>
              </a:ext>
            </a:extLst>
          </p:cNvPr>
          <p:cNvSpPr txBox="1"/>
          <p:nvPr/>
        </p:nvSpPr>
        <p:spPr>
          <a:xfrm>
            <a:off x="5046482" y="1490494"/>
            <a:ext cx="20990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400" dirty="0"/>
              <a:t>Podsumowanie</a:t>
            </a:r>
            <a:endParaRPr lang="en-US" sz="2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E7EC6D-E47C-4B52-837D-D5E8F581F444}"/>
              </a:ext>
            </a:extLst>
          </p:cNvPr>
          <p:cNvSpPr txBox="1"/>
          <p:nvPr/>
        </p:nvSpPr>
        <p:spPr>
          <a:xfrm>
            <a:off x="2413000" y="1721326"/>
            <a:ext cx="7366000" cy="37888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l-PL" dirty="0"/>
              <a:t>Zalety: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dirty="0"/>
              <a:t>prosty algorytm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dirty="0"/>
              <a:t>wizualizacja matematyki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dirty="0"/>
              <a:t>interaktywność </a:t>
            </a:r>
          </a:p>
          <a:p>
            <a:pPr>
              <a:lnSpc>
                <a:spcPct val="150000"/>
              </a:lnSpc>
            </a:pPr>
            <a:r>
              <a:rPr lang="pl-PL" dirty="0"/>
              <a:t>Wady: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dirty="0"/>
              <a:t>duża złożoność przy wysokich iteracjach </a:t>
            </a:r>
          </a:p>
          <a:p>
            <a:pPr>
              <a:lnSpc>
                <a:spcPct val="150000"/>
              </a:lnSpc>
            </a:pPr>
            <a:r>
              <a:rPr lang="pl-PL" dirty="0"/>
              <a:t>Zastosowanie: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dirty="0"/>
              <a:t>edukacja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dirty="0"/>
              <a:t>grafika komputerowa</a:t>
            </a:r>
          </a:p>
        </p:txBody>
      </p:sp>
    </p:spTree>
    <p:extLst>
      <p:ext uri="{BB962C8B-B14F-4D97-AF65-F5344CB8AC3E}">
        <p14:creationId xmlns:p14="http://schemas.microsoft.com/office/powerpoint/2010/main" val="35901288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729</TotalTime>
  <Words>683</Words>
  <Application>Microsoft Office PowerPoint</Application>
  <PresentationFormat>Widescreen</PresentationFormat>
  <Paragraphs>98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Radek Manak</dc:creator>
  <cp:lastModifiedBy>Radek Manak</cp:lastModifiedBy>
  <cp:revision>43</cp:revision>
  <dcterms:created xsi:type="dcterms:W3CDTF">2025-11-19T11:37:12Z</dcterms:created>
  <dcterms:modified xsi:type="dcterms:W3CDTF">2026-06-13T18:44:33Z</dcterms:modified>
</cp:coreProperties>
</file>